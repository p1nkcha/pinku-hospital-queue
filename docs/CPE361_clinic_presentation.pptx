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1 · เปิดเรื่อง" id="{ada3fc41-6e35-cb34-f3c5-0f3beea70b88}">
          <p14:sldIdLst>
            <p14:sldId id="256"/>
            <p14:sldId id="257"/>
            <p14:sldId id="258"/>
            <p14:sldId id="259"/>
            <p14:sldId id="260"/>
          </p14:sldIdLst>
        </p14:section>
        <p14:section name="B1 · ฐานข้อมูล" id="{9918b3da-7077-e844-85a3-c4f81377feb6}">
          <p14:sldIdLst>
            <p14:sldId id="261"/>
            <p14:sldId id="262"/>
            <p14:sldId id="263"/>
            <p14:sldId id="264"/>
            <p14:sldId id="265"/>
          </p14:sldIdLst>
        </p14:section>
        <p14:section name="C1 · ผู้ป่วยและจองคิว" id="{67277c49-f588-ef01-caa2-594729c0b781}">
          <p14:sldIdLst>
            <p14:sldId id="266"/>
            <p14:sldId id="267"/>
            <p14:sldId id="268"/>
          </p14:sldIdLst>
        </p14:section>
        <p14:section name="D1 · ค้นหาและจัดการคิว" id="{08037f7f-5643-6ae0-1e33-633e4480a7e4}">
          <p14:sldIdLst>
            <p14:sldId id="269"/>
            <p14:sldId id="270"/>
            <p14:sldId id="271"/>
          </p14:sldIdLst>
        </p14:section>
        <p14:section name="A1 · ปิดท้าย" id="{13078eae-c03d-88d0-ed08-85f711d16132}">
          <p14:sldIdLst>
            <p14:sldId id="272"/>
            <p14:sldId id="273"/>
          </p14:sldIdLst>
        </p14:section>
        <p14:section name="สไลด์สำรอง" id="{2abfb7ad-71a5-c38f-e5d8-799e11f5e1a4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A1   เวลาโดยประมาณ: 0:20   (เวลาสะสม 0:20)
สวัสดีครับ/ค่ะ อาจารย์และเพื่อนๆ วันนี้กลุ่มเรานำเสนอโปรเจกต์จำลองฐานข้อมูล "Pinku Clinic ระบบจองคิวคลินิก"
สมาชิกมี 4 คน: A1 เปิดเรื่องและสรุป, B1 อธิบายฐานข้อมูล, C1 เรื่องผู้ป่วยและการจองคิว, D1 เรื่องค้นหาและจัดการคิว
C1 กับ D1 จะ Demo โปรแกรมจริงให้ดูด้วย
(ใส่ชื่อ-นามสกุลจริงแทน "(ชื่อ-นามสกุล)" ก่อนนำเสนอ)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A1   เวลาโดยประมาณ: 0:40   (เวลาสะสม 1:00)
ลองนึกถึงคลินิกเล็กๆ ที่รับจองคิวทางโทรศัพท์แล้วจดลงสมุด พอผู้ป่วยเยอะขึ้นจะเจอ 4 ปัญหา
หนึ่ง จองซ้อน เจ้าหน้าที่ให้คิวช่องเดียวกันกับแพทย์คนเดียวกันไปสองคน
สอง ไม่รู้ว่าช่องไหนยังว่าง ต้องไล่เปิดสมุดตอนผู้ป่วยถือสายรออยู่
สาม ค้นหาคิวยาก ผู้ป่วยถามว่านัดวันไหน ต้องพลิกหาทีละหน้า
สี่ ไม่มีประวัติย้อนหลัง คิวที่ยกเลิกถูกขีดฆ่า ผลตรวจก็จดแยกไว้ที่อื่น อยากรู้ว่าผู้ป่วยเคยเป็นอะไรต้องไปค้นเอง
เราจึงทำระบบที่ให้ฐานข้อมูลช่วยกันปัญหาเหล่านี้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A1   เวลาโดยประมาณ: 0:40   (เวลาสะสม 1:40)
วัตถุประสงค์มี 3 ข้อ: ออกแบบฐานข้อมูล 6 ตารางให้อยู่ในรูป 3NF, ให้ฐานข้อมูลเองกันคิวซ้ำและข้อมูลผิดรูปแบบได้ ไม่ใช่พึ่งโปรแกรมอย่างเดียว, และทำโปรแกรมที่เจ้าหน้าที่ใช้งานได้จริงในหน้าต่างเดียว รวมถึงบันทึกผลตรวจ
ขอบเขต: ผู้ใช้คือเจ้าหน้าที่ 1 คน ผู้ป่วยไม่ได้ใช้โปรแกรมเอง แต่โทรมาหรือมาที่เคาน์เตอร์
ระบบทำได้ 6 อย่างตามรายการ รวมการดูประวัติการรักษาและการบันทึกผลวินิจฉัยตอนตรวจเสร็จ ส่วน Login จัดตารางแพทย์ ชำระเงิน และแจ้งเตือน อยู่นอกขอบเขตของงานนี้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A1   เวลาโดยประมาณ: 0:30   (เวลาสะสม 2:10)
เครื่องมือ: เขียนด้วย Python 3 ใช้โมดูล sqlite3 ที่มากับ Python ฐานข้อมูลเป็นไฟล์เดียวชื่อ clinic.db หน้าจอทำด้วย Tkinter
ช่องวันเกิดใช้ปฏิทินจากไลบรารี tkcalendar ตัวนี้ไม่ได้มากับ Python ต้องติดตั้งครั้งเดียวด้วย python -m pip install tkcalendar ถ้าลืมติดตั้ง โปรแกรมจะบอกคำสั่งให้ ไม่ล่ม
เขียนโค้ดใน VS Code และเปิดดูข้อมูลด้วย DB Browser for SQLite ทุกตัวฟรี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A1   เวลาโดยประมาณ: 0:50   (เวลาสะสม 3:00)
ระบบทำงานเป็น 5 ขั้นตามนี้ และเราจะเล่าตามลำดับนี้ตลอดการนำเสนอ
ขั้นที่ 1 เปิดโปรแกรมแล้วเชื่อมต่อฐานข้อมูล B1 จะอธิบายพร้อมการออกแบบฐานข้อมูล
ขั้นที่ 2 ผู้ป่วย: ลงทะเบียน แก้ไข และดูประวัติการรักษา ขั้นที่ 3 จองคิว C1 จะอธิบายและ Demo
ขั้นที่ 4 ค้นหาคิว และขั้นที่ 5 ยกเลิกหรือบันทึกผลตรวจ D1 จะอธิบายและ Demo
ด้านบนของหน้าต่างมีแถบหัวสรุปคิวของวันนี้ ภาพนี้เป็นภาพจริงหลังรีเซ็ตข้อมูล: คิวทั้งหมด 7 ตรวจแล้ว 0 รอตรวจ 6 ยกเลิก 1 ตัวเลขเปลี่ยนเองทุกครั้งที่จอง ยกเลิก หรือบันทึกผลตรวจ
[ส่งต่อ] ก่อนจะทำงานได้ต้องมีฐานข้อมูลที่ออกแบบดีก่อน ขอส่งต่อให้ B1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B1   เวลาโดยประมาณ: 0:55   (เวลาสะสม 3:55)
นี่คือ ER Diagram แบบ Crow's Foot มี 6 ตาราง 5 ความสัมพันธ์
แผนก 1 แผนกมีแพทย์ได้หลายคน แพทย์ 1 คนมีช่องเวลาออกตรวจได้หลายช่อง ช่องละ 30 นาที
ช่องเวลา 1 ช่องมีประวัติคิวได้หลายแถว เพราะคิวที่ยกเลิกยังเก็บไว้ แต่คิวที่ยังไม่ยกเลิกมีได้แค่ 1 คิว ผู้ป่วย 1 คนจองได้หลายคิว ผู้ป่วยกับช่องเวลาจึงเป็นหลายต่อหลาย มี appointments อยู่ตรงกลาง
ตารางใหม่คือ treatments ผลการรักษา เส้นจาก appointments เป็น 1 ต่อ 0 หรือ 1: คิวที่ยังไม่ตรวจไม่มีผล คิวที่ตรวจแล้วมีผลได้ 1 แถว เพราะ appt_id ใน treatments เป็น UNIQUE
ขีดสองขีดฝั่ง 1 แปลว่าต้องอ้างถึงได้พอดี 1 แถว FK ทุกตัวจึงห้ามว่าง (NOT NULL)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B1   เวลาโดยประมาณ: 0:55   (เวลาสะสม 4:50)
ทั้ง 6 ตารางใช้คีย์หลักเป็นตัวเลขรันอัตโนมัติ ตัวสีแดงคือ FK ที่ชี้ไปตารางอื่น
ทำไมเป็น 3NF: ถ้ารวมเป็นตารางเดียว ชื่อ เบอร์ของผู้ป่วยจะซ้ำทุกครั้งที่จอง เปลี่ยนเบอร์ต้องแก้หลายแถว แบบของเรา appointments เก็บแค่ patient_id กับ schedule_id แล้วใช้ JOIN ดึงชื่อ แพทย์ วัน เวลา
ตาราง treatments เก็บผลวินิจฉัยและการรักษาของคิวที่ตรวจแล้ว เก็บแค่ appt_id ไม่เก็บ patient_id ซ้ำ เพราะหาได้จาก appointments ถ้าเก็บซ้ำอาจขัดกันได้
ข้อบังคับ: เบอร์ห้ามซ้ำและเป็นเลข 10 หลักขึ้นต้น 0, วันเกิดต้องเป็นวันที่จริง, status มี 3 ค่า, ผลวินิจฉัยห้ามว่าง ส่วนอาการและการรักษาว่างได้ booked_at กับ recorded_at ระบบใส่วันเวลาให้เอง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B1   เวลาโดยประมาณ: 0:55   (เวลาสะสม 5:45)
กฎของระบบเรากันไว้ 2 ชั้น: ถ้าฐานข้อมูลบังคับเองได้ จะใส่ไว้ในฐานข้อมูล เพราะกันได้แม้มีคนแก้ข้อมูลผ่าน DB Browser
กฎที่สำคัญที่สุดคือ 1 ช่องเวลามีคิวที่ยังไม่ยกเลิกได้ 1 คิว ใช้ UNIQUE แบบมีเงื่อนไขที่ไม่นับคิวที่ยกเลิก ช่องที่ยกเลิกจึงจองใหม่ได้
บางกฎฐานข้อมูลบังคับเองไม่ได้ เช่น คิวซ้อนของผู้ป่วยต้องดูวันเวลาจากอีกตาราง และเรื่องเวลาปัจจุบัน เราลองใส่ date('now') ใน CHECK แล้ว SQLite ปฏิเสธว่า non-deterministic อันนี้โปรแกรมเช็กให้
กฎใหม่ (แถวสีชมพู): คิวที่ตรวจแล้วมีผลวินิจฉัยได้ 1 แถว appt_id เป็น UNIQUE และผลวินิจฉัยห้ามว่าง โปรแกรมบังคับกรอกในฟอร์ม และบันทึกพร้อมเปลี่ยนสถานะใน transaction เดียว D1 จะเล่าต่อ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B1   เวลาโดยประมาณ: 0:50   (เวลาสะสม 6:35)
ตัวอย่าง SQL 4 คำสั่ง สามคำสั่งมาจากไฟล์ sql_examples.py ที่รันแล้วพิมพ์ผลก่อนและหลังให้ดู
คำสั่งแรก JOIN แผนก แพทย์ ช่องเวลา ผู้ป่วย กับคิว เพื่อดูคิวของวันนี้ ได้ 7 แถว
คำสั่งที่สองคือตัวเลขบนแถบหัว: COUNT(*) นับทุกคิวของวันนี้ ส่วน SUM(CASE WHEN … THEN 1 ELSE 0 END) นับเฉพาะแถวที่ตรงสถานะ ได้ 4 ตัวเลขในคำสั่งเดียว ข้อมูลตั้งต้นได้ 7 0 6 1 คือ คิวทั้งหมด 7 ตรวจแล้ว 0 รอตรวจ 6 ยกเลิก 1
UPDATE ยกเลิกคิว มีเงื่อนไข status = จองแล้ว ซ้อนไว้ สั่งครั้งแรกแก้ 1 แถว สั่งซ้ำได้ 0 แถว จึงยกเลิกซ้ำไม่ได้
DELETE ผู้ป่วยที่ยังมีคิว ฐานข้อมูลปฏิเสธด้วย FOREIGN KEY ข้อมูลจึงไม่ขาดความเชื่อมโยง
(ถ้ารัน python sql_examples.py ให้ดู ต้องรัน create_db.py ใหม่ก่อน Demo เพราะตัวอย่างแก้ข้อมูลจริง)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B1   เวลาโดยประมาณ: 0:45   (เวลาสะสม 7:20)
การเชื่อมต่ออยู่ใน database.py ทุกครั้งที่ใช้ฐานข้อมูล โปรแกรมเปิดการเชื่อมต่อใหม่ผ่าน get_connection() ซึ่งสั่ง PRAGMA foreign_keys = ON ทันที รันคำสั่ง commit แล้วปิดใน finally ไฟล์จึงไม่ค้างล็อกแม้เกิด error
ต้องสั่ง PRAGMA ทุกครั้งเพราะ SQLite ปิด foreign key เป็นค่าเริ่มต้น และค่านี้ไม่ได้เก็บในไฟล์
ทุกคำสั่งใช้ ? แทนค่า ถ้าเอาข้อความมาต่อกัน คนพิมพ์ ' OR '1'='1 ลงช่องเบอร์ก็ได้ทุกแถว ใช้ ? ค่าจะเป็นข้อมูลเสมอ
ถ้าฐานข้อมูลปฏิเสธคำสั่ง error_to_thai() แปลงเป็นข้อความภาษาไทยก่อนแสดง ผู้ใช้จะไม่เห็นข้อความภาษาอังกฤษ ในไฟล์เดียวกันยังมี get_today_summary() ของแถบหัว และ execute_transaction() ที่ D1 จะเล่า
[ส่งต่อ] ฐานข้อมูลพร้อมแล้ว ต่อไป C1 จะพาไปดูเรื่องผู้ป่วยและการจองคิว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C1   เวลาโดยประมาณ: 1:00   (เวลาสะสม 8:20)
ขั้นที่ 2 แท็บผู้ป่วย เจ้าหน้าที่กรอกชื่อ เบอร์ และวันเกิด แล้วกดลงทะเบียน
โปรแกรมทำ 4 อย่าง: read_form ตัดขีดออกจากเบอร์, check_form ตรวจช่องว่าง เบอร์ต้องเป็นเลข 10 หลักขึ้นต้นด้วย 0 วันเกิดต้องเป็นวันที่จริงและไม่ใช่อนาคต, เช็กเบอร์ซ้ำด้วย SELECT, แล้ว INSERT ได้รหัสผู้ป่วยใหม่ 16 จาก AUTOINCREMENT
ช่องวันเกิดกดลูกศรเพื่อเปิดปฏิทิน tkcalendar หรือพิมพ์เองก็ได้
ภาพนี้เป็นหน้าจอจริง: พอคลิกชื่อในตาราง ข้อมูลขึ้นฟอร์มให้แก้ไข และตารางล่างแสดงประวัติการรักษา อำนาจ จันทร์เพ็ญ มี 3 ครั้ง เรียงจากล่าสุด ดึงจาก treatments JOIN กับคิว ช่องเวลา แพทย์ และแผนก
แก้ข้อมูลผู้ป่วยใช้ UPDATE ที่ patients ที่เดียว คิวเดิมและประวัติไม่ต้องแก้ตาม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C1   เวลาโดยประมาณ: 0:55   (เวลาสะสม 9:15)
ขั้นที่ 3 จองคิว เริ่มจากค้นผู้ป่วยด้วยเบอร์โทร แล้วเลือกแผนก แพทย์ วันที่ และช่องเวลา ทีละขั้น รายการถัดไปจะแสดงตามที่เลือก
วันที่และช่องเวลาที่ขึ้นมาเป็นเฉพาะที่ว่างจริง ใช้ LEFT JOIN ช่องเวลากับคิวที่ยังไม่ยกเลิก ช่องไหนจับคู่ไม่ได้แปลว่าว่าง
ตารางนี้เป็นข้อมูลจริงของ พญ.กมลวรรณ วันพรุ่งนี้: 09:00 มีคิว 14 แล้วจึงไม่แสดง ส่วน 09:30 เคยมีคิว 17 แต่ถูกยกเลิก จึงกลับมาว่าง
ตอนกดบันทึก โปรแกรมตรวจซ้ำอีกรอบ: เลือกครบไหม ช่องเลยเวลาหรือยัง ยังว่างอยู่ไหม และผู้ป่วยมีคิวซ้อนเวลาเดียวกันไหม แล้วถามยืนยันก่อน INSERT ได้หมายเลขคิว 31
ถ้ามีคนจองช่องนี้ตัดหน้า ฐานข้อมูลจะปฏิเสธ และแจ้งเป็นภาษาไทยว่าช่องนี้มีผู้ป่วยจองไปแล้ว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C1 (พูด) · D1 (คุมเครื่อง)   เวลาโดยประมาณ: 2:25   (เวลาสะสม 11:40)
เตรียมก่อนเริ่มนำเสนอทั้งหมด: ปิด DB Browser › python create_db.py (ต้องเห็น "คิวของวันนี้ … 7 คิว") › python main.py › เปิดหน้าต่างค้างไว้ที่แท็บ "ผู้ป่วย" แถบหัวต้องเป็น คิวทั้งหมด 7 ตรวจแล้ว 0 รอตรวจ 6 ยกเลิก 1
จองวันพรุ่งนี้เสมอ เพราะถ้านำเสนอช่วงบ่าย ช่องของวันนี้อาจเลยเวลาจนไม่แสดงแล้ว
ค่าที่ "ควรเห็น" ทุกข้อด้านล่างได้จากการกดจริงเมื่อ 24 ตุลาคม 2569 (วันที่จะเปลี่ยนตามวันที่รัน create_db.py)
ขั้น 1 ลงทะเบียนด้วยเบอร์ซ้ำ (~20 วินาที)
D1 ทำ: แท็บ "ผู้ป่วย" › ชื่อ-นามสกุล: ชไมพร ใจกว้าง › เบอร์โทร: 081-234-5678 › วันเกิด: 1993-08-15 › กด "ลงทะเบียนผู้ป่วยใหม่"
ควรเห็น: กล่อง "เบอร์โทรซ้ำ" — เบอร์ 0812345678 เป็นของผู้ป่วย "สมหญิง ใจดี" อยู่แล้ว › กด ตกลง
C1 พูด: "ระบบเช็กเบอร์ซ้ำก่อนบันทึกเสมอ และบอกด้วยว่าเป็นเบอร์ของใคร"
ขั้น 2 ลงทะเบียนสำเร็จ และปฏิทินวันเกิด (~25 วินาที)
D1 ทำ: แก้เบอร์โทรเป็น 089-123-4567 › กดลูกศรของช่องวันเกิดให้ปฏิทินเปิด (ปฏิทินเปิดที่ สิงหาคม 1993 และเลือกวันที่ 15 ไว้) › กด Esc หรือคลิกวันที่ 15 › ตรวจว่าวันเกิดยังเป็น 1993-08-15 › กด "ลงทะเบียนผู้ป่วยใหม่"
ควรเห็น: กล่อง "ลงทะเบียนสำเร็จ" — ลงทะเบียน "ชไมพร ใจกว้าง" เรียบร้อย รหัสผู้ป่วย: 16 › กด ตกลง › ตารางขวามีแถว 16 เบอร์ 0891234567 (ไม่มีขีด)
C1 พูด: "วันเกิดเลือกจากปฏิทินหรือพิมพ์เองก็ได้ รหัส 16 ได้จาก AUTOINCREMENT และโปรแกรมตัดขีดออกจากเบอร์ก่อนบันทึก"
ขั้น 3 ดูประวัติการรักษา (~25 วินาที)
D1 ทำ: ช่อง "ค้นหาชื่อหรือเบอร์โทร" พิมพ์ อำนาจ › กด "ค้นหา" › คลิกแถว อำนาจ จันทร์เพ็ญ
ควรเห็น: กล่องประวัติการรักษาขึ้นว่า "อำนาจ จันทร์เพ็ญ มีประวัติการรักษา 3 ครั้ง (เรียงจากล่าสุด)" มี 3 แถว แถวบนสุด: 2026-08-25 | นพ.ประวิทย์ ศรีสุข | อายุรกรรม | เบาหวานชนิดที่ 2 ควบคุมได้ดี | ให้ยาเดิมต่อ นัดเจาะเลือดซ้ำใน 3 เดือน
C1 พูด: "ประวัติมาจากตาราง treatments JOIN กับคิว ช่องเวลา แพทย์ และแผนก เรียงจากล่าสุด" › D1 กด "แสดงทั้งหมด" แล้วกด "ล้างฟอร์ม"
ขั้น 4 ค้นผู้ป่วย เลือกช่องเวลา และบันทึกการจอง (~55 วินาที)
D1 ทำ: แท็บ "จองคิว" › เบอร์โทร 0891234567 › กด "ค้นหาผู้ป่วย"
ควรเห็น: "ผู้ป่วย: ชไมพร ใจกว้าง (รหัส 16, เกิด 1993-08-15)" ตัวสีเขียว
D1 ทำ: แผนก "อายุรกรรม" › แพทย์ "พญ.กมลวรรณ ทองดี" › วันที่ "2026-10-25 (วันอาทิตย์)" › กดเปิดรายการช่องเวลา
ควรเห็น: 09:30 - 10:00, 10:00 - 10:30, 10:30 - 11:00
C1 พูด: "09:00 ไม่ขึ้นเพราะมีคนจองแล้ว ส่วน 09:30 ขึ้นเพราะคิวเดิมถูกยกเลิก ระบบไม่นับคิวที่ยกเลิก"
D1 ทำ: เลือก "10:00 - 10:30" › ช่องอาการเว้นว่างไว้ › กด "บันทึกการจอง" › กล่อง "ยืนยันการจอง" แสดงผู้ป่วย แพทย์ วันที่ เวลา › กด ตกลง
ควรเห็น: กล่อง "จองคิวสำเร็จ" — บันทึกการจองเรียบร้อย หมายเลขคิว: 31 › กด ตกลง › แถบหัวยังเป็น 7/0/6/1 เพราะจองของพรุ่งนี้
C1 พูด: "ก่อนบันทึก ระบบตรวจซ้ำว่าช่องยังว่าง ยังไม่เลยเวลา และผู้ป่วยไม่มีคิวซ้อน อาการไม่บังคับกรอก"
ขั้น 5 ลองจองซ้อนเวลา (~20 วินาที ทำเมื่อเวลายังพอ)
D1 ทำ: แผนก "สูติ-นรีเวชกรรม" › แพทย์ "พญ.ปิยะนุช สายสุวรรณ" › วันพรุ่งนี้ › "10:00 - 10:30" › กด "บันทึกการจอง"
ควรเห็น: กล่อง "คิวซ้อนกัน" — ผู้ป่วย "ชไมพร ใจกว้าง" มีคิวกับ พญ.กมลวรรณ ทองดี วันที่ 2026-10-25 เวลา 10:00 อยู่แล้ว › กด ตกลง
C1 พูด: "ผู้ป่วย 1 คนจองคิวซ้อนในวันและเวลาเดียวกันไม่ได้"
[ส่งต่อ] "คิวที่ 31 ที่เพิ่งจองไปอยู่ตรงไหน D1 จะพาไปค้นหาและจัดการคิวต่อ"
ถ้า Demo สดมีปัญหา: เปิดสไลด์สำรอง C1-1 ถึง C1-8 ท้ายไฟล์ แล้วอธิบายตามภาพ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D1   เวลาโดยประมาณ: 0:45   (เวลาสะสม 12:25)
ขั้นที่ 4 ค้นหาคิว เปิดแท็บมาจะเห็นคิวของวันนี้ทันที เพราะช่องวันที่ตั้งเป็นวันนี้ไว้
ค้นได้ 3 แบบ: ชื่อพิมพ์บางส่วนก็ได้ เบอร์โทร และวันที่ ภาพนี้เป็นหน้าจอจริง พิมพ์ "ชไมพร" เจอคิวที่ 31 ที่ C1 เพิ่งจอง
ทั้งหมดใช้ SQL คำสั่งเดียว เคล็ดลับคือเขียนว่า ? = '' OR … ถ้าช่องไหนว่าง เงื่อนไขนั้นเป็นจริงเสมอเลยไม่มีผล ถ้ากรอกหลายช่องต้องตรงทุกช่อง
ชื่อใช้ LIKE กับ % ซึ่งต่อกับค่าที่ส่งแทน ? ไม่ได้ต่อเข้าไปในคำสั่ง
สีตัวอักษรของแถวบอกสถานะ: ปกติคือจองแล้ว เขียวคือตรวจแล้ว เทาคือยกเลิก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D1   เวลาโดยประมาณ: 1:05   (เวลาสะสม 13:30)
ขั้นที่ 5 จัดการคิว คิวที่สถานะ "จองแล้ว" ไปได้ 2 ทาง: ยกเลิก ตัวอักษรเป็นสีเทา หรือบันทึกผลตรวจ เป็นสีเขียว พอเปลี่ยนแล้วจะเปลี่ยนต่อไม่ได้
ก่อนเปลี่ยน โปรแกรมอ่านสถานะล่าสุดจากฐานข้อมูล ต้องเป็นจองแล้ว ถ้าจะบันทึกผลตรวจ วันนัดต้องเป็นวันนี้หรือผ่านมาแล้ว แล้วถามยืนยันก่อนเสมอ
บันทึกผลตรวจ: หลังยืนยันจะมีฟอร์มนี้ขึ้นมา ผลวินิจฉัยบังคับกรอก การรักษาไม่บังคับ กดบันทึกแล้วโปรแกรมส่ง 2 คำสั่ง คือ UPDATE สถานะ กับ INSERT ผลลง treatments ผ่าน execute_transaction
ทำไมต้อง transaction: ถ้า UPDATE สำเร็จแต่ INSERT พัง จะได้คิวที่ตรวจแล้วแต่ไม่มีผล execute_transaction จึง rollback ทั้งหมดถ้าคำสั่งไหนได้ 0 แถวหรือเกิด error
การยกเลิกเป็น UPDATE คำสั่งเดียวที่มีเงื่อนไข status = จองแล้ว ซ้อนไว้ ไม่ลบแถว เก็บประวัติไว้ และช่องเวลานั้นกลับมาว่างทันที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D1 (พูด) · C1 (คุมเครื่อง)   เวลาโดยประมาณ: 2:30   (เวลาสะสม 16:00)
ทำต่อจาก Demo ของ C1 ทันที (ข้อมูลมีคิวที่ 31 ของชไมพรแล้ว) ห้ามรัน create_db.py ระหว่างนี้
ค่าที่ "ควรเห็น" ทุกข้อด้านล่างได้จากการกดจริงเมื่อ 24 ตุลาคม 2569
ขั้น 1 ค้นหาคิว (~25 วินาที)
C1 ทำ: แท็บ "ค้นหาและจัดการคิว" (เปิดมาจะเห็นคิวของวันนี้ "พบ 7 คิว") › กด "ล้างเงื่อนไข" › ช่องชื่อผู้ป่วยพิมพ์ ชไมพร › กด Enter
ควรเห็น: "พบ 1 คิว" — 31 | 2026-10-25 | 10:00 | ชไมพร ใจกว้าง | 0891234567 | พญ.กมลวรรณ ทองดี | อายุรกรรม | - | จองแล้ว
D1 พูด: "พิมพ์ชื่อแค่บางส่วนก็ค้นเจอ SQL คำสั่งเดียวรองรับทั้งชื่อ เบอร์ และวันที่ อาการที่ไม่ได้กรอกแสดงเป็นขีด"
ขั้น 2 ยกเลิกคิว (~35 วินาที)
C1 ทำ: คลิกแถวคิว 31 › กด "ยกเลิกคิว" › กล่อง "ยืนยันการยกเลิกคิว" (แถบสีแดง) แสดงรายละเอียดคิว › กด ตกลง
ควรเห็น: "ยกเลิกคิวที่ 31 เรียบร้อย" › กด ตกลง › ตัวอักษรของแถวเป็นสีเทา สถานะ ยกเลิก
C1 ทำ: กด "ยกเลิกคิว" อีกครั้ง (แถวยังถูกเลือกอยู่)
ควรเห็น: กล่อง "ยกเลิกไม่ได้" — คิวที่ 31 มีสถานะ "ยกเลิก" แล้ว ยกเลิกได้เฉพาะคิวที่สถานะ "จองแล้ว" › กด ตกลง
D1 พูด: "การยกเลิกไม่ลบแถว แค่เปลี่ยนสถานะเพื่อเก็บประวัติ และยกเลิกซ้ำไม่ได้ แถบหัวไม่เปลี่ยนเพราะเป็นคิวของพรุ่งนี้"
ขั้น 3 ช่องกลับมาว่าง (~25 วินาที)
C1 ทำ: แท็บ "จองคิว" › แผนก "อายุรกรรม" › แพทย์ "พญ.กมลวรรณ ทองดี" › วันพรุ่งนี้ › กดเปิดรายการช่องเวลา
ควรเห็น: 09:30 - 10:00, 10:00 - 10:30, 10:30 - 11:00 (ช่อง 10:00 กลับมา)
D1 พูด: "ฐานข้อมูลไม่นับคิวที่ยกเลิก ช่องนี้จึงจองใหม่ได้ทันที"
ขั้น 4 บันทึกว่าตรวจแล้วพร้อมผลวินิจฉัย (~55 วินาที)
C1 ทำ: แท็บ "ค้นหาและจัดการคิว" › กด "ล้างเงื่อนไข" (สำคัญ: ถ้าไม่ล้าง ชื่อ "ชไมพร" จะยังค้างอยู่) › กด "วันนี้" (พบ 7 คิว) › คลิกคิว 7 (วิภาวรรณ ศรีทอง 09:00 นพ.ประวิทย์ ศรีสุข อาการ เจ็บคอ) › กด "บันทึกว่าตรวจแล้ว" › กล่อง "ยืนยันการบันทึก" › กด ตกลง
ควรเห็น: ฟอร์ม "บันทึกผลการรักษา" › C1 พิมพ์ ผลวินิจฉัย: คออักเสบจากไวรัส › การรักษา: ยาลดไข้ ยาอมแก้เจ็บคอ ดื่มน้ำอุ่นและพักผ่อน › กด "บันทึก"
ควรเห็น: กล่อง "บันทึกสำเร็จ" — บันทึกว่าคิวที่ 7 ตรวจแล้ว เรียบร้อย ผลวินิจฉัย: คออักเสบจากไวรัส › กด ตกลง › ตัวอักษรของแถวคิว 7 เป็นสีเขียว สถานะ ตรวจแล้ว
D1 พูด: "ผลวินิจฉัยบังคับกรอก กดบันทึกแล้วโปรแกรมเปลี่ยนสถานะและเพิ่มผลลง treatments ใน transaction เดียว ถ้าเป็นคิวพรุ่งนี้ ระบบจะเตือนว่ายังไม่ถึงวันนัด"
ขั้น 5 ดูแถบหัว (~10 วินาที)
ควรเห็น: แถบหัวเปลี่ยนจาก คิวทั้งหมด 7 ตรวจแล้ว 0 รอตรวจ 6 ยกเลิก 1 เป็น คิวทั้งหมด 7 ตรวจแล้ว 1 รอตรวจ 5 ยกเลิก 1
D1 พูด: "คิวที่ 7 ย้ายจากรอตรวจไปตรวจแล้ว ตัวเลขมาจาก COUNT กับ SUM CASE ที่ B1 อธิบาย"
[ส่งต่อ] "การทำงานทั้ง 5 ขั้นจบแค่นี้ ขอส่งต่อให้ A1 สรุป"
ถ้า Demo สดมีปัญหา: เปิดสไลด์สำรอง D1-1 ถึง D1-9 ท้ายไฟล์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A1   เวลาโดยประมาณ: 0:50   (เวลาสะสม 16:50)
ระหว่างทำ เราเจอปัญหาหลักๆ 5 เรื่อง
หนึ่ง ตอนแรกใช้ UNIQUE ธรรมดากันคิวซ้ำ พอยกเลิกคิวแล้วจองช่องเดิมไม่ได้ เพราะแถวที่ยกเลิกยังอยู่ เลยเปลี่ยนเป็น UNIQUE แบบมีเงื่อนไขที่ไม่นับคิวยกเลิก
สอง ตอนทดสอบบน Windows คอลัมน์สถานะในแท็บค้นหาล้นขอบขวา เลยปรับความกว้างคอลัมน์ให้ยืดตามหน้าต่าง เห็นครบ 9 คอลัมน์
สาม เลข 0 หน้าเบอร์หายตอนอ่านค่าจากตาราง Treeview เพราะมันแปลงเป็นตัวเลข เลยใช้รหัสเป็น iid แล้วดึงจากฐานข้อมูลแทน
สี่ ตอนทดสอบตอนกลางคืนยังจองช่องเช้าของวันนี้ได้ เลยเพิ่มการกรองด้วยเวลาปัจจุบัน และเช็กซ้ำตอนบันทึก
ห้า ตัวอักษรสีขาวบนปุ่มและแท็บสีชมพูอ่านยาก เลยใช้ตัวอักษรสีเข้ม และเปลี่ยนเป็นสีขาวเฉพาะตอนเอาเมาส์ชี้หรือกด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A1   เวลาโดยประมาณ: 0:30 (+ ถาม-ตอบ)   (เวลาสะสม 17:20)
สรุป: เราออกแบบฐานข้อมูล 6 ตารางในรูป 3NF กันคิวซ้ำ 2 ชั้นทั้งในโปรแกรมและในฐานข้อมูล บันทึกผลตรวจกับเปลี่ยนสถานะใน transaction เดียว ทุกคำสั่งใช้ ? และเปิด foreign key ทุกครั้ง ผู้ใช้เห็นข้อความแจ้งเตือนภาษาไทยทุกกรณี และเห็นสรุปคิววันนี้บนแถบหัว
ขอบคุณครับ/ค่ะ เปิดให้อาจารย์ถามได้เลย
ใครตอบ: ภาพรวม ขอบเขต เครื่องมือ tkcalendar แถบหัว = A1 · ฐานข้อมูล SQL การเชื่อมต่อ ตาราง treatments = B1 · ลงทะเบียน ประวัติการรักษา จองคิว = C1 · ค้นหา ยกเลิก บันทึกผลตรวจ transaction = D1
ทุกคนอ่านคำถาม 32 ข้อในเอกสาร docs/CPE361_clinic_explanation.pdf หัวข้อ 10 มาก่อน · ผังงานฉบับเต็มอยู่ในสไลด์สำรองสุดท้าย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ผู้ที่กำลัง Demo   เวลาโดยประมาณ: —   (เวลาสะสม —)
ถ้า Demo สดมีปัญหา (โปรแกรมเปิดไม่ขึ้น เครื่องค้าง) ให้คนคุมเครื่องกระโดดมาที่สไลด์สำรองของส่วนนั้น แล้วผู้พูดอธิบายตามภาพเหมือนบท Demo
ภาพทุกหน้าถ่ายจากโปรแกรมจริงเมื่อ 24 ตุลาคม 2569 หลังรัน python create_db.py แล้วทำตามบท Demo ในสไลด์ 13 และ 16 วันที่ในภาพ (2026-10-24 และ 2026-10-25) จะไม่ตรงกับวันนำเสนอ
ถ่ายใหม่ก่อนนำเสนอ: python create_db.py › python main.py › ทำตามบท Demo › กด Win+Shift+S จับเฉพาะหน้าต่างโปรแกรม › คลิกขวาภาพเดิมในสไลด์ › Change Picture › From a File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C1 (สำรอง)   เวลาโดยประมาณ: —   (เวลาสะสม —)
ใช้แทน Demo สดขั้นนี้: ลงทะเบียนด้วยเบอร์ซ้ำ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13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C1 (สำรอง)   เวลาโดยประมาณ: —   (เวลาสะสม —)
ใช้แทน Demo สดขั้นนี้: ปฏิทินวันเกิด (tkcalendar)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13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C1 (สำรอง)   เวลาโดยประมาณ: —   (เวลาสะสม —)
ใช้แทน Demo สดขั้นนี้: ลงทะเบียนสำเร็จ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13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C1 (สำรอง)   เวลาโดยประมาณ: —   (เวลาสะสม —)
ใช้แทน Demo สดขั้นนี้: ประวัติการรักษา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13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C1 (สำรอง)   เวลาโดยประมาณ: —   (เวลาสะสม —)
ใช้แทน Demo สดขั้นนี้: เลือกแผนก แพทย์ วันที่ และช่องเวลาว่าง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13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C1 (สำรอง)   เวลาโดยประมาณ: —   (เวลาสะสม —)
ใช้แทน Demo สดขั้นนี้: ยืนยันการจอง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13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C1 (สำรอง)   เวลาโดยประมาณ: —   (เวลาสะสม —)
ใช้แทน Demo สดขั้นนี้: จองคิวสำเร็จ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13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C1 (สำรอง)   เวลาโดยประมาณ: —   (เวลาสะสม —)
ใช้แทน Demo สดขั้นนี้: ลองจองซ้อนเวลา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13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D1 (สำรอง)   เวลาโดยประมาณ: —   (เวลาสะสม —)
ใช้แทน Demo สดขั้นนี้: ค้นหาคิวด้วยชื่อ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16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D1 (สำรอง)   เวลาโดยประมาณ: —   (เวลาสะสม —)
ใช้แทน Demo สดขั้นนี้: ยืนยันการยกเลิกคิว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16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D1 (สำรอง)   เวลาโดยประมาณ: —   (เวลาสะสม —)
ใช้แทน Demo สดขั้นนี้: หลังยกเลิกคิว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16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D1 (สำรอง)   เวลาโดยประมาณ: —   (เวลาสะสม —)
ใช้แทน Demo สดขั้นนี้: ยกเลิกซ้ำไม่ได้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16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D1 (สำรอง)   เวลาโดยประมาณ: —   (เวลาสะสม —)
ใช้แทน Demo สดขั้นนี้: ช่องเวลากลับมาว่าง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16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D1 (สำรอง)   เวลาโดยประมาณ: —   (เวลาสะสม —)
ใช้แทน Demo สดขั้นนี้: ยืนยันการบันทึกว่าตรวจแล้ว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16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D1 (สำรอง)   เวลาโดยประมาณ: —   (เวลาสะสม —)
ใช้แทน Demo สดขั้นนี้: ฟอร์มผลวินิจฉัย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16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D1 (สำรอง)   เวลาโดยประมาณ: —   (เวลาสะสม —)
ใช้แทน Demo สดขั้นนี้: บันทึกสำเร็จ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16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D1 (สำรอง)   เวลาโดยประมาณ: —   (เวลาสะสม —)
ใช้แทน Demo สดขั้นนี้: หลังบันทึก: แถวสีเขียว และแถบหัวเปลี่ยน
ภาพหน้าจอจริง ถ่ายเมื่อ 24 ตุลาคม 2569 (วันนี้ในภาพ = 2026-10-24, พรุ่งนี้ = 2026-10-25) ควรถ่ายใหม่ก่อนนำเสนอ
พูดตามบท Demo ในสไลด์ 16 ชี้สิ่งที่ "ควรเห็น" ทางขวาให้ผู้ฟังดู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ผู้พูด: ใครก็ได้ (ตอนถาม-ตอบ)   เวลาโดยประมาณ: —   (เวลาสะสม —)
ใช้ตอนอาจารย์ถามลำดับการทำงานทั้งระบบ ผังนี้ตรงกับเอกสาร PDF หัวข้อ 2
ชี้ตามลำดับ: เปิดโปรแกรม › ตรวจ clinic.db และ tkcalendar › สร้างแถบหัวและ 3 แท็บ › แต่ละแท็บมีจุดตรวจก่อนเขียนข้อมูล › บันทึกผลตรวจ: ยืนยัน › ฟอร์มผลวินิจฉัย › transaction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444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108960"/>
            <a:ext cx="10515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CPE361 · Pinku Clinic · ระบบจองคิวคลินิก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444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DEBF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UP">
    <p:bg>
      <p:bgPr>
        <a:solidFill>
          <a:srgbClr val="FDE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สไลด์สำรอง · ใช้เมื่อ Demo สดมีปัญหา · ภาพจากโปรแกรมจริง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Pinku Clinic</a:t>
            </a:r>
            <a:endParaRPr lang="en-US" sz="5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108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ระบบจองคิวคลินิก</a:t>
            </a:r>
            <a:endParaRPr lang="en-US" sz="3000" dirty="0"/>
          </a:p>
        </p:txBody>
      </p:sp>
      <p:sp>
        <p:nvSpPr>
          <p:cNvPr id="4" name="iconbg1"/>
          <p:cNvSpPr/>
          <p:nvPr/>
        </p:nvSpPr>
        <p:spPr>
          <a:xfrm>
            <a:off x="731520" y="960120"/>
            <a:ext cx="914400" cy="91440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5" name="icon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457200" cy="457200"/>
          </a:xfrm>
          <a:prstGeom prst="rect">
            <a:avLst/>
          </a:prstGeom>
        </p:spPr>
      </p:pic>
      <p:sp>
        <p:nvSpPr>
          <p:cNvPr id="6" name="text3"/>
          <p:cNvSpPr txBox="1"/>
          <p:nvPr/>
        </p:nvSpPr>
        <p:spPr>
          <a:xfrm>
            <a:off x="731520" y="3794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โปรเจกต์จำลองฐานข้อมูล · วิชา CPE361</a:t>
            </a:r>
            <a:endParaRPr lang="en-US" sz="2000" dirty="0"/>
          </a:p>
        </p:txBody>
      </p:sp>
      <p:sp>
        <p:nvSpPr>
          <p:cNvPr id="7" name="text4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Python 3 · sqlite3 · Tkinter · tkcalendar · ฐานข้อมูล clinic.db</a:t>
            </a:r>
            <a:endParaRPr lang="en-US" sz="1600" dirty="0"/>
          </a:p>
        </p:txBody>
      </p:sp>
      <p:sp>
        <p:nvSpPr>
          <p:cNvPr id="8" name="team0"/>
          <p:cNvSpPr/>
          <p:nvPr/>
        </p:nvSpPr>
        <p:spPr>
          <a:xfrm>
            <a:off x="731520" y="489204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585358"/>
          </a:solidFill>
          <a:ln w="12700">
            <a:solidFill>
              <a:srgbClr val="585358"/>
            </a:solidFill>
            <a:prstDash val="solid"/>
          </a:ln>
        </p:spPr>
      </p:sp>
      <p:sp>
        <p:nvSpPr>
          <p:cNvPr id="9" name="text5"/>
          <p:cNvSpPr txBox="1"/>
          <p:nvPr/>
        </p:nvSpPr>
        <p:spPr>
          <a:xfrm>
            <a:off x="960120" y="50017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A1</a:t>
            </a:r>
            <a:endParaRPr lang="en-US" sz="2000" dirty="0"/>
          </a:p>
        </p:txBody>
      </p:sp>
      <p:sp>
        <p:nvSpPr>
          <p:cNvPr id="10" name="text6"/>
          <p:cNvSpPr txBox="1"/>
          <p:nvPr/>
        </p:nvSpPr>
        <p:spPr>
          <a:xfrm>
            <a:off x="960120" y="5413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(ชื่อ-นามสกุล)</a:t>
            </a:r>
            <a:endParaRPr lang="en-US" sz="1400" dirty="0"/>
          </a:p>
        </p:txBody>
      </p:sp>
      <p:sp>
        <p:nvSpPr>
          <p:cNvPr id="11" name="text7"/>
          <p:cNvSpPr txBox="1"/>
          <p:nvPr/>
        </p:nvSpPr>
        <p:spPr>
          <a:xfrm>
            <a:off x="960120" y="5715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เปิดเรื่องและสรุป</a:t>
            </a:r>
            <a:endParaRPr lang="en-US" sz="1400" dirty="0"/>
          </a:p>
        </p:txBody>
      </p:sp>
      <p:sp>
        <p:nvSpPr>
          <p:cNvPr id="12" name="team1"/>
          <p:cNvSpPr/>
          <p:nvPr/>
        </p:nvSpPr>
        <p:spPr>
          <a:xfrm>
            <a:off x="3474720" y="489204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585358"/>
          </a:solidFill>
          <a:ln w="12700">
            <a:solidFill>
              <a:srgbClr val="585358"/>
            </a:solidFill>
            <a:prstDash val="solid"/>
          </a:ln>
        </p:spPr>
      </p:sp>
      <p:sp>
        <p:nvSpPr>
          <p:cNvPr id="13" name="text8"/>
          <p:cNvSpPr txBox="1"/>
          <p:nvPr/>
        </p:nvSpPr>
        <p:spPr>
          <a:xfrm>
            <a:off x="3703320" y="50017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B1</a:t>
            </a:r>
            <a:endParaRPr lang="en-US" sz="2000" dirty="0"/>
          </a:p>
        </p:txBody>
      </p:sp>
      <p:sp>
        <p:nvSpPr>
          <p:cNvPr id="14" name="text9"/>
          <p:cNvSpPr txBox="1"/>
          <p:nvPr/>
        </p:nvSpPr>
        <p:spPr>
          <a:xfrm>
            <a:off x="3703320" y="5413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(ชื่อ-นามสกุล)</a:t>
            </a:r>
            <a:endParaRPr lang="en-US" sz="1400" dirty="0"/>
          </a:p>
        </p:txBody>
      </p:sp>
      <p:sp>
        <p:nvSpPr>
          <p:cNvPr id="15" name="text10"/>
          <p:cNvSpPr txBox="1"/>
          <p:nvPr/>
        </p:nvSpPr>
        <p:spPr>
          <a:xfrm>
            <a:off x="3703320" y="5715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</a:t>
            </a:r>
            <a:endParaRPr lang="en-US" sz="1400" dirty="0"/>
          </a:p>
        </p:txBody>
      </p:sp>
      <p:sp>
        <p:nvSpPr>
          <p:cNvPr id="16" name="team2"/>
          <p:cNvSpPr/>
          <p:nvPr/>
        </p:nvSpPr>
        <p:spPr>
          <a:xfrm>
            <a:off x="6217920" y="489204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585358"/>
          </a:solidFill>
          <a:ln w="12700">
            <a:solidFill>
              <a:srgbClr val="585358"/>
            </a:solidFill>
            <a:prstDash val="solid"/>
          </a:ln>
        </p:spPr>
      </p:sp>
      <p:sp>
        <p:nvSpPr>
          <p:cNvPr id="17" name="text11"/>
          <p:cNvSpPr txBox="1"/>
          <p:nvPr/>
        </p:nvSpPr>
        <p:spPr>
          <a:xfrm>
            <a:off x="6446520" y="50017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2000" dirty="0"/>
          </a:p>
        </p:txBody>
      </p:sp>
      <p:sp>
        <p:nvSpPr>
          <p:cNvPr id="18" name="text12"/>
          <p:cNvSpPr txBox="1"/>
          <p:nvPr/>
        </p:nvSpPr>
        <p:spPr>
          <a:xfrm>
            <a:off x="6446520" y="5413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(ชื่อ-นามสกุล)</a:t>
            </a:r>
            <a:endParaRPr lang="en-US" sz="1400" dirty="0"/>
          </a:p>
        </p:txBody>
      </p:sp>
      <p:sp>
        <p:nvSpPr>
          <p:cNvPr id="19" name="text13"/>
          <p:cNvSpPr txBox="1"/>
          <p:nvPr/>
        </p:nvSpPr>
        <p:spPr>
          <a:xfrm>
            <a:off x="6446520" y="5715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ผู้ป่วยและจองคิว</a:t>
            </a:r>
            <a:endParaRPr lang="en-US" sz="1400" dirty="0"/>
          </a:p>
        </p:txBody>
      </p:sp>
      <p:sp>
        <p:nvSpPr>
          <p:cNvPr id="20" name="team3"/>
          <p:cNvSpPr/>
          <p:nvPr/>
        </p:nvSpPr>
        <p:spPr>
          <a:xfrm>
            <a:off x="8961120" y="489204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585358"/>
          </a:solidFill>
          <a:ln w="12700">
            <a:solidFill>
              <a:srgbClr val="585358"/>
            </a:solidFill>
            <a:prstDash val="solid"/>
          </a:ln>
        </p:spPr>
      </p:sp>
      <p:sp>
        <p:nvSpPr>
          <p:cNvPr id="21" name="text14"/>
          <p:cNvSpPr txBox="1"/>
          <p:nvPr/>
        </p:nvSpPr>
        <p:spPr>
          <a:xfrm>
            <a:off x="9189720" y="50017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2000" dirty="0"/>
          </a:p>
        </p:txBody>
      </p:sp>
      <p:sp>
        <p:nvSpPr>
          <p:cNvPr id="22" name="text15"/>
          <p:cNvSpPr txBox="1"/>
          <p:nvPr/>
        </p:nvSpPr>
        <p:spPr>
          <a:xfrm>
            <a:off x="9189720" y="5413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(ชื่อ-นามสกุล)</a:t>
            </a:r>
            <a:endParaRPr lang="en-US" sz="1400" dirty="0"/>
          </a:p>
        </p:txBody>
      </p:sp>
      <p:sp>
        <p:nvSpPr>
          <p:cNvPr id="23" name="text16"/>
          <p:cNvSpPr txBox="1"/>
          <p:nvPr/>
        </p:nvSpPr>
        <p:spPr>
          <a:xfrm>
            <a:off x="9189720" y="5715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ค้นหาและจัดการคิว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ที่มาและปัญหา</a:t>
            </a:r>
            <a:endParaRPr lang="en-US" sz="3000" dirty="0"/>
          </a:p>
        </p:txBody>
      </p:sp>
      <p:sp>
        <p:nvSpPr>
          <p:cNvPr id="3" name="speakerPill17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18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A1</a:t>
            </a:r>
            <a:endParaRPr lang="en-US" sz="1600" dirty="0"/>
          </a:p>
        </p:txBody>
      </p:sp>
      <p:sp>
        <p:nvSpPr>
          <p:cNvPr id="5" name="text19"/>
          <p:cNvSpPr txBox="1"/>
          <p:nvPr/>
        </p:nvSpPr>
        <p:spPr>
          <a:xfrm>
            <a:off x="54864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ก่อนมีระบบ</a:t>
            </a:r>
            <a:endParaRPr lang="en-US" sz="1500" dirty="0"/>
          </a:p>
        </p:txBody>
      </p:sp>
      <p:sp>
        <p:nvSpPr>
          <p:cNvPr id="6" name="text20"/>
          <p:cNvSpPr txBox="1"/>
          <p:nvPr/>
        </p:nvSpPr>
        <p:spPr>
          <a:xfrm>
            <a:off x="548640" y="18288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คลินิกรับจองคิวทางโทรศัพท์และที่เคาน์เตอร์ แล้วจดลงสมุด</a:t>
            </a:r>
            <a:endParaRPr lang="en-US" sz="2400" dirty="0"/>
          </a:p>
        </p:txBody>
      </p:sp>
      <p:sp>
        <p:nvSpPr>
          <p:cNvPr id="7" name="text21"/>
          <p:cNvSpPr txBox="1"/>
          <p:nvPr/>
        </p:nvSpPr>
        <p:spPr>
          <a:xfrm>
            <a:off x="548640" y="34290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พอผู้ป่วยมากขึ้น ข้อมูลกระจัดกระจาย ตรวจสอบยาก และผิดพลาดง่าย</a:t>
            </a:r>
            <a:endParaRPr lang="en-US" sz="1700" dirty="0"/>
          </a:p>
        </p:txBody>
      </p:sp>
      <p:sp>
        <p:nvSpPr>
          <p:cNvPr id="8" name="card22"/>
          <p:cNvSpPr/>
          <p:nvPr/>
        </p:nvSpPr>
        <p:spPr>
          <a:xfrm>
            <a:off x="4709160" y="1371600"/>
            <a:ext cx="327355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9" name="iconbg23"/>
          <p:cNvSpPr/>
          <p:nvPr/>
        </p:nvSpPr>
        <p:spPr>
          <a:xfrm>
            <a:off x="4983480" y="1645920"/>
            <a:ext cx="685800" cy="68580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10" name="icon2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4930" y="1817370"/>
            <a:ext cx="342900" cy="342900"/>
          </a:xfrm>
          <a:prstGeom prst="rect">
            <a:avLst/>
          </a:prstGeom>
        </p:spPr>
      </p:pic>
      <p:sp>
        <p:nvSpPr>
          <p:cNvPr id="11" name="text25"/>
          <p:cNvSpPr txBox="1"/>
          <p:nvPr/>
        </p:nvSpPr>
        <p:spPr>
          <a:xfrm>
            <a:off x="4983480" y="2441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จองซ้อนเวลาเดียวกัน</a:t>
            </a:r>
            <a:endParaRPr lang="en-US" sz="1800" dirty="0"/>
          </a:p>
        </p:txBody>
      </p:sp>
      <p:sp>
        <p:nvSpPr>
          <p:cNvPr id="12" name="text26"/>
          <p:cNvSpPr txBox="1"/>
          <p:nvPr/>
        </p:nvSpPr>
        <p:spPr>
          <a:xfrm>
            <a:off x="4983480" y="28529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สองคนได้ช่องเดียวกันกับแพทย์คนเดียวกัน</a:t>
            </a:r>
            <a:endParaRPr lang="en-US" sz="1500" dirty="0"/>
          </a:p>
        </p:txBody>
      </p:sp>
      <p:sp>
        <p:nvSpPr>
          <p:cNvPr id="13" name="card27"/>
          <p:cNvSpPr/>
          <p:nvPr/>
        </p:nvSpPr>
        <p:spPr>
          <a:xfrm>
            <a:off x="8229600" y="1371600"/>
            <a:ext cx="327355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14" name="iconbg28"/>
          <p:cNvSpPr/>
          <p:nvPr/>
        </p:nvSpPr>
        <p:spPr>
          <a:xfrm>
            <a:off x="8503920" y="1645920"/>
            <a:ext cx="685800" cy="68580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15" name="icon2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370" y="1817370"/>
            <a:ext cx="342900" cy="342900"/>
          </a:xfrm>
          <a:prstGeom prst="rect">
            <a:avLst/>
          </a:prstGeom>
        </p:spPr>
      </p:pic>
      <p:sp>
        <p:nvSpPr>
          <p:cNvPr id="16" name="text30"/>
          <p:cNvSpPr txBox="1"/>
          <p:nvPr/>
        </p:nvSpPr>
        <p:spPr>
          <a:xfrm>
            <a:off x="8503920" y="2441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ไม่รู้ว่าช่องไหนยังว่าง</a:t>
            </a:r>
            <a:endParaRPr lang="en-US" sz="1800" dirty="0"/>
          </a:p>
        </p:txBody>
      </p:sp>
      <p:sp>
        <p:nvSpPr>
          <p:cNvPr id="17" name="text31"/>
          <p:cNvSpPr txBox="1"/>
          <p:nvPr/>
        </p:nvSpPr>
        <p:spPr>
          <a:xfrm>
            <a:off x="8503920" y="28529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ต้องไล่เปิดสมุดทีละหน้าตอนผู้ป่วยโทรมา</a:t>
            </a:r>
            <a:endParaRPr lang="en-US" sz="1500" dirty="0"/>
          </a:p>
        </p:txBody>
      </p:sp>
      <p:sp>
        <p:nvSpPr>
          <p:cNvPr id="18" name="card32"/>
          <p:cNvSpPr/>
          <p:nvPr/>
        </p:nvSpPr>
        <p:spPr>
          <a:xfrm>
            <a:off x="4709160" y="3794760"/>
            <a:ext cx="327355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19" name="iconbg33"/>
          <p:cNvSpPr/>
          <p:nvPr/>
        </p:nvSpPr>
        <p:spPr>
          <a:xfrm>
            <a:off x="4983480" y="4069080"/>
            <a:ext cx="685800" cy="68580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20" name="icon3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930" y="4240530"/>
            <a:ext cx="342900" cy="342900"/>
          </a:xfrm>
          <a:prstGeom prst="rect">
            <a:avLst/>
          </a:prstGeom>
        </p:spPr>
      </p:pic>
      <p:sp>
        <p:nvSpPr>
          <p:cNvPr id="21" name="text35"/>
          <p:cNvSpPr txBox="1"/>
          <p:nvPr/>
        </p:nvSpPr>
        <p:spPr>
          <a:xfrm>
            <a:off x="4983480" y="4864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ค้นหาคิวยาก</a:t>
            </a:r>
            <a:endParaRPr lang="en-US" sz="1800" dirty="0"/>
          </a:p>
        </p:txBody>
      </p:sp>
      <p:sp>
        <p:nvSpPr>
          <p:cNvPr id="22" name="text36"/>
          <p:cNvSpPr txBox="1"/>
          <p:nvPr/>
        </p:nvSpPr>
        <p:spPr>
          <a:xfrm>
            <a:off x="4983480" y="52760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หาจากชื่อ เบอร์ หรือวันที่ ต้องพลิกหาทีละแผ่น</a:t>
            </a:r>
            <a:endParaRPr lang="en-US" sz="1500" dirty="0"/>
          </a:p>
        </p:txBody>
      </p:sp>
      <p:sp>
        <p:nvSpPr>
          <p:cNvPr id="23" name="card37"/>
          <p:cNvSpPr/>
          <p:nvPr/>
        </p:nvSpPr>
        <p:spPr>
          <a:xfrm>
            <a:off x="8229600" y="3794760"/>
            <a:ext cx="327355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24" name="iconbg38"/>
          <p:cNvSpPr/>
          <p:nvPr/>
        </p:nvSpPr>
        <p:spPr>
          <a:xfrm>
            <a:off x="8503920" y="4069080"/>
            <a:ext cx="685800" cy="68580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25" name="icon3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5370" y="4240530"/>
            <a:ext cx="342900" cy="342900"/>
          </a:xfrm>
          <a:prstGeom prst="rect">
            <a:avLst/>
          </a:prstGeom>
        </p:spPr>
      </p:pic>
      <p:sp>
        <p:nvSpPr>
          <p:cNvPr id="26" name="text40"/>
          <p:cNvSpPr txBox="1"/>
          <p:nvPr/>
        </p:nvSpPr>
        <p:spPr>
          <a:xfrm>
            <a:off x="8503920" y="4864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ไม่มีประวัติย้อนหลัง</a:t>
            </a:r>
            <a:endParaRPr lang="en-US" sz="1800" dirty="0"/>
          </a:p>
        </p:txBody>
      </p:sp>
      <p:sp>
        <p:nvSpPr>
          <p:cNvPr id="27" name="text41"/>
          <p:cNvSpPr txBox="1"/>
          <p:nvPr/>
        </p:nvSpPr>
        <p:spPr>
          <a:xfrm>
            <a:off x="8503920" y="52760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คิวที่ยกเลิกถูกขีดฆ่า ผลตรวจจดแยก หาย้อนหลังไม่ได้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วัตถุประสงค์และขอบเขต</a:t>
            </a:r>
            <a:endParaRPr lang="en-US" sz="3000" dirty="0"/>
          </a:p>
        </p:txBody>
      </p:sp>
      <p:sp>
        <p:nvSpPr>
          <p:cNvPr id="3" name="speakerPill42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43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A1</a:t>
            </a:r>
            <a:endParaRPr lang="en-US" sz="1600" dirty="0"/>
          </a:p>
        </p:txBody>
      </p:sp>
      <p:sp>
        <p:nvSpPr>
          <p:cNvPr id="5" name="card44"/>
          <p:cNvSpPr/>
          <p:nvPr/>
        </p:nvSpPr>
        <p:spPr>
          <a:xfrm>
            <a:off x="548640" y="1371600"/>
            <a:ext cx="5257800" cy="4754880"/>
          </a:xfrm>
          <a:prstGeom prst="roundRect">
            <a:avLst>
              <a:gd name="adj" fmla="val 2308"/>
            </a:avLst>
          </a:prstGeom>
          <a:solidFill>
            <a:srgbClr val="FDEBF9"/>
          </a:solidFill>
          <a:ln w="12700">
            <a:solidFill>
              <a:srgbClr val="FDEBF9"/>
            </a:solidFill>
            <a:prstDash val="solid"/>
          </a:ln>
        </p:spPr>
      </p:sp>
      <p:sp>
        <p:nvSpPr>
          <p:cNvPr id="6" name="iconbg45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7" name="icon4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05940"/>
            <a:ext cx="320040" cy="320040"/>
          </a:xfrm>
          <a:prstGeom prst="rect">
            <a:avLst/>
          </a:prstGeom>
        </p:spPr>
      </p:pic>
      <p:sp>
        <p:nvSpPr>
          <p:cNvPr id="8" name="text47"/>
          <p:cNvSpPr txBox="1"/>
          <p:nvPr/>
        </p:nvSpPr>
        <p:spPr>
          <a:xfrm>
            <a:off x="1691640" y="17190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2200" dirty="0"/>
          </a:p>
        </p:txBody>
      </p:sp>
      <p:sp>
        <p:nvSpPr>
          <p:cNvPr id="9" name="pill48"/>
          <p:cNvSpPr/>
          <p:nvPr/>
        </p:nvSpPr>
        <p:spPr>
          <a:xfrm>
            <a:off x="914400" y="26060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0" name="text49"/>
          <p:cNvSpPr txBox="1"/>
          <p:nvPr/>
        </p:nvSpPr>
        <p:spPr>
          <a:xfrm>
            <a:off x="9144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50"/>
          <p:cNvSpPr txBox="1"/>
          <p:nvPr/>
        </p:nvSpPr>
        <p:spPr>
          <a:xfrm>
            <a:off x="1600200" y="257860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ออกแบบฐานข้อมูล 6 ตารางในรูป 3NF</a:t>
            </a:r>
            <a:endParaRPr lang="en-US" sz="1700" dirty="0"/>
          </a:p>
        </p:txBody>
      </p:sp>
      <p:sp>
        <p:nvSpPr>
          <p:cNvPr id="12" name="pill51"/>
          <p:cNvSpPr/>
          <p:nvPr/>
        </p:nvSpPr>
        <p:spPr>
          <a:xfrm>
            <a:off x="914400" y="37033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3" name="text52"/>
          <p:cNvSpPr txBox="1"/>
          <p:nvPr/>
        </p:nvSpPr>
        <p:spPr>
          <a:xfrm>
            <a:off x="9144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53"/>
          <p:cNvSpPr txBox="1"/>
          <p:nvPr/>
        </p:nvSpPr>
        <p:spPr>
          <a:xfrm>
            <a:off x="1600200" y="367588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ให้ฐานข้อมูลกันคิวซ้ำและข้อมูลผิดรูปแบบได้เอง</a:t>
            </a:r>
            <a:endParaRPr lang="en-US" sz="1700" dirty="0"/>
          </a:p>
        </p:txBody>
      </p:sp>
      <p:sp>
        <p:nvSpPr>
          <p:cNvPr id="15" name="pill54"/>
          <p:cNvSpPr/>
          <p:nvPr/>
        </p:nvSpPr>
        <p:spPr>
          <a:xfrm>
            <a:off x="914400" y="48006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6" name="text55"/>
          <p:cNvSpPr txBox="1"/>
          <p:nvPr/>
        </p:nvSpPr>
        <p:spPr>
          <a:xfrm>
            <a:off x="91440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56"/>
          <p:cNvSpPr txBox="1"/>
          <p:nvPr/>
        </p:nvSpPr>
        <p:spPr>
          <a:xfrm>
            <a:off x="1600200" y="47731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ทำโปรแกรมให้เจ้าหน้าที่ลงทะเบียน จอง ค้นหา จัดการคิว และบันทึกผลตรวจได้ในหน้าต่างเดียว</a:t>
            </a:r>
            <a:endParaRPr lang="en-US" sz="1700" dirty="0"/>
          </a:p>
        </p:txBody>
      </p:sp>
      <p:sp>
        <p:nvSpPr>
          <p:cNvPr id="18" name="iconbg57"/>
          <p:cNvSpPr/>
          <p:nvPr/>
        </p:nvSpPr>
        <p:spPr>
          <a:xfrm>
            <a:off x="6172200" y="1645920"/>
            <a:ext cx="640080" cy="64008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19" name="icon5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1805940"/>
            <a:ext cx="320040" cy="320040"/>
          </a:xfrm>
          <a:prstGeom prst="rect">
            <a:avLst/>
          </a:prstGeom>
        </p:spPr>
      </p:pic>
      <p:sp>
        <p:nvSpPr>
          <p:cNvPr id="20" name="text59"/>
          <p:cNvSpPr txBox="1"/>
          <p:nvPr/>
        </p:nvSpPr>
        <p:spPr>
          <a:xfrm>
            <a:off x="6995160" y="17190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</a:t>
            </a:r>
            <a:endParaRPr lang="en-US" sz="2200" dirty="0"/>
          </a:p>
        </p:txBody>
      </p:sp>
      <p:sp>
        <p:nvSpPr>
          <p:cNvPr id="21" name="text60"/>
          <p:cNvSpPr txBox="1"/>
          <p:nvPr/>
        </p:nvSpPr>
        <p:spPr>
          <a:xfrm>
            <a:off x="617220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ผู้ใช้: เจ้าหน้าที่คลินิก 1 คน (ไม่มีหน้า Login)</a:t>
            </a:r>
            <a:endParaRPr lang="en-US" sz="1600" dirty="0"/>
          </a:p>
        </p:txBody>
      </p:sp>
      <p:sp>
        <p:nvSpPr>
          <p:cNvPr id="22" name="text61"/>
          <p:cNvSpPr txBox="1"/>
          <p:nvPr/>
        </p:nvSpPr>
        <p:spPr>
          <a:xfrm>
            <a:off x="617220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ทำได้</a:t>
            </a:r>
            <a:endParaRPr lang="en-US" sz="1600" dirty="0"/>
          </a:p>
        </p:txBody>
      </p:sp>
      <p:pic>
        <p:nvPicPr>
          <p:cNvPr id="23" name="ok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429000"/>
            <a:ext cx="256032" cy="256032"/>
          </a:xfrm>
          <a:prstGeom prst="rect">
            <a:avLst/>
          </a:prstGeom>
        </p:spPr>
      </p:pic>
      <p:sp>
        <p:nvSpPr>
          <p:cNvPr id="24" name="text62"/>
          <p:cNvSpPr txBox="1"/>
          <p:nvPr/>
        </p:nvSpPr>
        <p:spPr>
          <a:xfrm>
            <a:off x="6556248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ลงทะเบียน / แก้ไขผู้ป่วย</a:t>
            </a:r>
            <a:endParaRPr lang="en-US" sz="1500" dirty="0"/>
          </a:p>
        </p:txBody>
      </p:sp>
      <p:pic>
        <p:nvPicPr>
          <p:cNvPr id="25" name="ok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867912"/>
            <a:ext cx="256032" cy="256032"/>
          </a:xfrm>
          <a:prstGeom prst="rect">
            <a:avLst/>
          </a:prstGeom>
        </p:spPr>
      </p:pic>
      <p:sp>
        <p:nvSpPr>
          <p:cNvPr id="26" name="text63"/>
          <p:cNvSpPr txBox="1"/>
          <p:nvPr/>
        </p:nvSpPr>
        <p:spPr>
          <a:xfrm>
            <a:off x="6556248" y="3822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ดูประวัติการรักษา</a:t>
            </a:r>
            <a:endParaRPr lang="en-US" sz="1500" dirty="0"/>
          </a:p>
        </p:txBody>
      </p:sp>
      <p:pic>
        <p:nvPicPr>
          <p:cNvPr id="27" name="ok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306824"/>
            <a:ext cx="256032" cy="256032"/>
          </a:xfrm>
          <a:prstGeom prst="rect">
            <a:avLst/>
          </a:prstGeom>
        </p:spPr>
      </p:pic>
      <p:sp>
        <p:nvSpPr>
          <p:cNvPr id="28" name="text64"/>
          <p:cNvSpPr txBox="1"/>
          <p:nvPr/>
        </p:nvSpPr>
        <p:spPr>
          <a:xfrm>
            <a:off x="6556248" y="42611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จองคิวพบแพทย์</a:t>
            </a:r>
            <a:endParaRPr lang="en-US" sz="1500" dirty="0"/>
          </a:p>
        </p:txBody>
      </p:sp>
      <p:pic>
        <p:nvPicPr>
          <p:cNvPr id="29" name="ok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4745736"/>
            <a:ext cx="256032" cy="256032"/>
          </a:xfrm>
          <a:prstGeom prst="rect">
            <a:avLst/>
          </a:prstGeom>
        </p:spPr>
      </p:pic>
      <p:sp>
        <p:nvSpPr>
          <p:cNvPr id="30" name="text65"/>
          <p:cNvSpPr txBox="1"/>
          <p:nvPr/>
        </p:nvSpPr>
        <p:spPr>
          <a:xfrm>
            <a:off x="6556248" y="4700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ค้นหาคิว</a:t>
            </a:r>
            <a:endParaRPr lang="en-US" sz="1500" dirty="0"/>
          </a:p>
        </p:txBody>
      </p:sp>
      <p:pic>
        <p:nvPicPr>
          <p:cNvPr id="31" name="ok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5184648"/>
            <a:ext cx="256032" cy="256032"/>
          </a:xfrm>
          <a:prstGeom prst="rect">
            <a:avLst/>
          </a:prstGeom>
        </p:spPr>
      </p:pic>
      <p:sp>
        <p:nvSpPr>
          <p:cNvPr id="32" name="text66"/>
          <p:cNvSpPr txBox="1"/>
          <p:nvPr/>
        </p:nvSpPr>
        <p:spPr>
          <a:xfrm>
            <a:off x="6556248" y="5138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ยกเลิกคิว</a:t>
            </a:r>
            <a:endParaRPr lang="en-US" sz="1500" dirty="0"/>
          </a:p>
        </p:txBody>
      </p:sp>
      <p:pic>
        <p:nvPicPr>
          <p:cNvPr id="33" name="ok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5623560"/>
            <a:ext cx="256032" cy="256032"/>
          </a:xfrm>
          <a:prstGeom prst="rect">
            <a:avLst/>
          </a:prstGeom>
        </p:spPr>
      </p:pic>
      <p:sp>
        <p:nvSpPr>
          <p:cNvPr id="34" name="text67"/>
          <p:cNvSpPr txBox="1"/>
          <p:nvPr/>
        </p:nvSpPr>
        <p:spPr>
          <a:xfrm>
            <a:off x="6556248" y="5577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บันทึกผลตรวจ</a:t>
            </a:r>
            <a:endParaRPr lang="en-US" sz="1500" dirty="0"/>
          </a:p>
        </p:txBody>
      </p:sp>
      <p:sp>
        <p:nvSpPr>
          <p:cNvPr id="35" name="text68"/>
          <p:cNvSpPr txBox="1"/>
          <p:nvPr/>
        </p:nvSpPr>
        <p:spPr>
          <a:xfrm>
            <a:off x="905256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ไม่รวม</a:t>
            </a:r>
            <a:endParaRPr lang="en-US" sz="1600" dirty="0"/>
          </a:p>
        </p:txBody>
      </p:sp>
      <p:pic>
        <p:nvPicPr>
          <p:cNvPr id="36" name="no0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0" y="3429000"/>
            <a:ext cx="256032" cy="256032"/>
          </a:xfrm>
          <a:prstGeom prst="rect">
            <a:avLst/>
          </a:prstGeom>
        </p:spPr>
      </p:pic>
      <p:sp>
        <p:nvSpPr>
          <p:cNvPr id="37" name="text69"/>
          <p:cNvSpPr txBox="1"/>
          <p:nvPr/>
        </p:nvSpPr>
        <p:spPr>
          <a:xfrm>
            <a:off x="9436608" y="3383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 Login และสิทธิ์ผู้ใช้</a:t>
            </a:r>
            <a:endParaRPr lang="en-US" sz="1500" dirty="0"/>
          </a:p>
        </p:txBody>
      </p:sp>
      <p:pic>
        <p:nvPicPr>
          <p:cNvPr id="38" name="no1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0" y="3867912"/>
            <a:ext cx="256032" cy="256032"/>
          </a:xfrm>
          <a:prstGeom prst="rect">
            <a:avLst/>
          </a:prstGeom>
        </p:spPr>
      </p:pic>
      <p:sp>
        <p:nvSpPr>
          <p:cNvPr id="39" name="text70"/>
          <p:cNvSpPr txBox="1"/>
          <p:nvPr/>
        </p:nvSpPr>
        <p:spPr>
          <a:xfrm>
            <a:off x="9436608" y="3822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จัดตารางออกตรวจผ่านหน้าจอ</a:t>
            </a:r>
            <a:endParaRPr lang="en-US" sz="1500" dirty="0"/>
          </a:p>
        </p:txBody>
      </p:sp>
      <p:pic>
        <p:nvPicPr>
          <p:cNvPr id="40" name="no2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2560" y="4306824"/>
            <a:ext cx="256032" cy="256032"/>
          </a:xfrm>
          <a:prstGeom prst="rect">
            <a:avLst/>
          </a:prstGeom>
        </p:spPr>
      </p:pic>
      <p:sp>
        <p:nvSpPr>
          <p:cNvPr id="41" name="text71"/>
          <p:cNvSpPr txBox="1"/>
          <p:nvPr/>
        </p:nvSpPr>
        <p:spPr>
          <a:xfrm>
            <a:off x="9436608" y="426110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ชำระเงิน</a:t>
            </a:r>
            <a:endParaRPr lang="en-US" sz="1500" dirty="0"/>
          </a:p>
        </p:txBody>
      </p:sp>
      <p:pic>
        <p:nvPicPr>
          <p:cNvPr id="42" name="no3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52560" y="4745736"/>
            <a:ext cx="256032" cy="256032"/>
          </a:xfrm>
          <a:prstGeom prst="rect">
            <a:avLst/>
          </a:prstGeom>
        </p:spPr>
      </p:pic>
      <p:sp>
        <p:nvSpPr>
          <p:cNvPr id="43" name="text72"/>
          <p:cNvSpPr txBox="1"/>
          <p:nvPr/>
        </p:nvSpPr>
        <p:spPr>
          <a:xfrm>
            <a:off x="9436608" y="47000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แจ้งเตือนผู้ป่วยก่อนนัด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เครื่องมือที่ใช้</a:t>
            </a:r>
            <a:endParaRPr lang="en-US" sz="3000" dirty="0"/>
          </a:p>
        </p:txBody>
      </p:sp>
      <p:sp>
        <p:nvSpPr>
          <p:cNvPr id="3" name="speakerPill73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74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A1</a:t>
            </a:r>
            <a:endParaRPr lang="en-US" sz="1600" dirty="0"/>
          </a:p>
        </p:txBody>
      </p:sp>
      <p:sp>
        <p:nvSpPr>
          <p:cNvPr id="5" name="card75"/>
          <p:cNvSpPr/>
          <p:nvPr/>
        </p:nvSpPr>
        <p:spPr>
          <a:xfrm>
            <a:off x="548640" y="1417320"/>
            <a:ext cx="1696669" cy="3383280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6" name="iconbg76"/>
          <p:cNvSpPr/>
          <p:nvPr/>
        </p:nvSpPr>
        <p:spPr>
          <a:xfrm>
            <a:off x="962635" y="1691640"/>
            <a:ext cx="868680" cy="86868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7" name="icon7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805" y="1908810"/>
            <a:ext cx="434340" cy="434340"/>
          </a:xfrm>
          <a:prstGeom prst="rect">
            <a:avLst/>
          </a:prstGeom>
        </p:spPr>
      </p:pic>
      <p:sp>
        <p:nvSpPr>
          <p:cNvPr id="8" name="text78"/>
          <p:cNvSpPr txBox="1"/>
          <p:nvPr/>
        </p:nvSpPr>
        <p:spPr>
          <a:xfrm>
            <a:off x="640080" y="2724912"/>
            <a:ext cx="15137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Python 3</a:t>
            </a:r>
            <a:endParaRPr lang="en-US" sz="1600" dirty="0"/>
          </a:p>
        </p:txBody>
      </p:sp>
      <p:sp>
        <p:nvSpPr>
          <p:cNvPr id="9" name="text79"/>
          <p:cNvSpPr txBox="1"/>
          <p:nvPr/>
        </p:nvSpPr>
        <p:spPr>
          <a:xfrm>
            <a:off x="685800" y="3520440"/>
            <a:ext cx="142234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ภาษาหลัก เขียนด้วยฟังก์ชันธรรมดา</a:t>
            </a:r>
            <a:endParaRPr lang="en-US" sz="1300" dirty="0"/>
          </a:p>
        </p:txBody>
      </p:sp>
      <p:sp>
        <p:nvSpPr>
          <p:cNvPr id="10" name="card80"/>
          <p:cNvSpPr/>
          <p:nvPr/>
        </p:nvSpPr>
        <p:spPr>
          <a:xfrm>
            <a:off x="2428189" y="1417320"/>
            <a:ext cx="1696669" cy="3383280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11" name="iconbg81"/>
          <p:cNvSpPr/>
          <p:nvPr/>
        </p:nvSpPr>
        <p:spPr>
          <a:xfrm>
            <a:off x="2842184" y="1691640"/>
            <a:ext cx="868680" cy="86868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12" name="icon8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354" y="1908810"/>
            <a:ext cx="434340" cy="434340"/>
          </a:xfrm>
          <a:prstGeom prst="rect">
            <a:avLst/>
          </a:prstGeom>
        </p:spPr>
      </p:pic>
      <p:sp>
        <p:nvSpPr>
          <p:cNvPr id="13" name="text83"/>
          <p:cNvSpPr txBox="1"/>
          <p:nvPr/>
        </p:nvSpPr>
        <p:spPr>
          <a:xfrm>
            <a:off x="2519629" y="2724912"/>
            <a:ext cx="15137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SQLite (sqlite3)</a:t>
            </a:r>
            <a:endParaRPr lang="en-US" sz="1600" dirty="0"/>
          </a:p>
        </p:txBody>
      </p:sp>
      <p:sp>
        <p:nvSpPr>
          <p:cNvPr id="14" name="text84"/>
          <p:cNvSpPr txBox="1"/>
          <p:nvPr/>
        </p:nvSpPr>
        <p:spPr>
          <a:xfrm>
            <a:off x="2565349" y="3520440"/>
            <a:ext cx="142234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ฐานข้อมูลไฟล์เดียว clinic.db โมดูลมากับ Python</a:t>
            </a:r>
            <a:endParaRPr lang="en-US" sz="1300" dirty="0"/>
          </a:p>
        </p:txBody>
      </p:sp>
      <p:sp>
        <p:nvSpPr>
          <p:cNvPr id="15" name="card85"/>
          <p:cNvSpPr/>
          <p:nvPr/>
        </p:nvSpPr>
        <p:spPr>
          <a:xfrm>
            <a:off x="4307738" y="1417320"/>
            <a:ext cx="1696669" cy="3383280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16" name="iconbg86"/>
          <p:cNvSpPr/>
          <p:nvPr/>
        </p:nvSpPr>
        <p:spPr>
          <a:xfrm>
            <a:off x="4721733" y="1691640"/>
            <a:ext cx="868680" cy="86868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17" name="icon8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903" y="1908810"/>
            <a:ext cx="434340" cy="434340"/>
          </a:xfrm>
          <a:prstGeom prst="rect">
            <a:avLst/>
          </a:prstGeom>
        </p:spPr>
      </p:pic>
      <p:sp>
        <p:nvSpPr>
          <p:cNvPr id="18" name="text88"/>
          <p:cNvSpPr txBox="1"/>
          <p:nvPr/>
        </p:nvSpPr>
        <p:spPr>
          <a:xfrm>
            <a:off x="4399178" y="2724912"/>
            <a:ext cx="15137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Tkinter</a:t>
            </a:r>
            <a:endParaRPr lang="en-US" sz="1600" dirty="0"/>
          </a:p>
        </p:txBody>
      </p:sp>
      <p:sp>
        <p:nvSpPr>
          <p:cNvPr id="19" name="text89"/>
          <p:cNvSpPr txBox="1"/>
          <p:nvPr/>
        </p:nvSpPr>
        <p:spPr>
          <a:xfrm>
            <a:off x="4444898" y="3520440"/>
            <a:ext cx="142234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หน้าจอ: Notebook, Treeview, Combobox</a:t>
            </a:r>
            <a:endParaRPr lang="en-US" sz="1300" dirty="0"/>
          </a:p>
        </p:txBody>
      </p:sp>
      <p:sp>
        <p:nvSpPr>
          <p:cNvPr id="20" name="card90"/>
          <p:cNvSpPr/>
          <p:nvPr/>
        </p:nvSpPr>
        <p:spPr>
          <a:xfrm>
            <a:off x="6187288" y="1417320"/>
            <a:ext cx="1696669" cy="3383280"/>
          </a:xfrm>
          <a:prstGeom prst="roundRect">
            <a:avLst>
              <a:gd name="adj" fmla="val 6467"/>
            </a:avLst>
          </a:prstGeom>
          <a:solidFill>
            <a:srgbClr val="FDEBF9"/>
          </a:solidFill>
          <a:ln w="1905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21" name="iconbg91"/>
          <p:cNvSpPr/>
          <p:nvPr/>
        </p:nvSpPr>
        <p:spPr>
          <a:xfrm>
            <a:off x="6601282" y="1691640"/>
            <a:ext cx="868680" cy="86868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22" name="icon9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452" y="1908810"/>
            <a:ext cx="434340" cy="434340"/>
          </a:xfrm>
          <a:prstGeom prst="rect">
            <a:avLst/>
          </a:prstGeom>
        </p:spPr>
      </p:pic>
      <p:sp>
        <p:nvSpPr>
          <p:cNvPr id="23" name="text93"/>
          <p:cNvSpPr txBox="1"/>
          <p:nvPr/>
        </p:nvSpPr>
        <p:spPr>
          <a:xfrm>
            <a:off x="6278728" y="2724912"/>
            <a:ext cx="15137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tkcalendar</a:t>
            </a:r>
            <a:endParaRPr lang="en-US" sz="1600" dirty="0"/>
          </a:p>
        </p:txBody>
      </p:sp>
      <p:sp>
        <p:nvSpPr>
          <p:cNvPr id="24" name="text94"/>
          <p:cNvSpPr txBox="1"/>
          <p:nvPr/>
        </p:nvSpPr>
        <p:spPr>
          <a:xfrm>
            <a:off x="6324448" y="3520440"/>
            <a:ext cx="142234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ปฏิทินเลือกวันเกิด (DateEntry) ต้องติดตั้งเพิ่ม</a:t>
            </a:r>
            <a:endParaRPr lang="en-US" sz="1300" dirty="0"/>
          </a:p>
        </p:txBody>
      </p:sp>
      <p:sp>
        <p:nvSpPr>
          <p:cNvPr id="25" name="card95"/>
          <p:cNvSpPr/>
          <p:nvPr/>
        </p:nvSpPr>
        <p:spPr>
          <a:xfrm>
            <a:off x="8066837" y="1417320"/>
            <a:ext cx="1696669" cy="3383280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26" name="iconbg96"/>
          <p:cNvSpPr/>
          <p:nvPr/>
        </p:nvSpPr>
        <p:spPr>
          <a:xfrm>
            <a:off x="8480831" y="1691640"/>
            <a:ext cx="868680" cy="86868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27" name="icon9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8001" y="1908810"/>
            <a:ext cx="434340" cy="434340"/>
          </a:xfrm>
          <a:prstGeom prst="rect">
            <a:avLst/>
          </a:prstGeom>
        </p:spPr>
      </p:pic>
      <p:sp>
        <p:nvSpPr>
          <p:cNvPr id="28" name="text98"/>
          <p:cNvSpPr txBox="1"/>
          <p:nvPr/>
        </p:nvSpPr>
        <p:spPr>
          <a:xfrm>
            <a:off x="8158277" y="2724912"/>
            <a:ext cx="15137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VS Code</a:t>
            </a:r>
            <a:endParaRPr lang="en-US" sz="1600" dirty="0"/>
          </a:p>
        </p:txBody>
      </p:sp>
      <p:sp>
        <p:nvSpPr>
          <p:cNvPr id="29" name="text99"/>
          <p:cNvSpPr txBox="1"/>
          <p:nvPr/>
        </p:nvSpPr>
        <p:spPr>
          <a:xfrm>
            <a:off x="8203997" y="3520440"/>
            <a:ext cx="142234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เขียนและรันโค้ด ใช้ Python extension</a:t>
            </a:r>
            <a:endParaRPr lang="en-US" sz="1300" dirty="0"/>
          </a:p>
        </p:txBody>
      </p:sp>
      <p:sp>
        <p:nvSpPr>
          <p:cNvPr id="30" name="card100"/>
          <p:cNvSpPr/>
          <p:nvPr/>
        </p:nvSpPr>
        <p:spPr>
          <a:xfrm>
            <a:off x="9946386" y="1417320"/>
            <a:ext cx="1696669" cy="3383280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31" name="iconbg101"/>
          <p:cNvSpPr/>
          <p:nvPr/>
        </p:nvSpPr>
        <p:spPr>
          <a:xfrm>
            <a:off x="10360381" y="1691640"/>
            <a:ext cx="868680" cy="86868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32" name="icon10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7551" y="1908810"/>
            <a:ext cx="434340" cy="434340"/>
          </a:xfrm>
          <a:prstGeom prst="rect">
            <a:avLst/>
          </a:prstGeom>
        </p:spPr>
      </p:pic>
      <p:sp>
        <p:nvSpPr>
          <p:cNvPr id="33" name="text103"/>
          <p:cNvSpPr txBox="1"/>
          <p:nvPr/>
        </p:nvSpPr>
        <p:spPr>
          <a:xfrm>
            <a:off x="10037826" y="2724912"/>
            <a:ext cx="15137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DB Browser for SQLite</a:t>
            </a:r>
            <a:endParaRPr lang="en-US" sz="1600" dirty="0"/>
          </a:p>
        </p:txBody>
      </p:sp>
      <p:sp>
        <p:nvSpPr>
          <p:cNvPr id="34" name="text104"/>
          <p:cNvSpPr txBox="1"/>
          <p:nvPr/>
        </p:nvSpPr>
        <p:spPr>
          <a:xfrm>
            <a:off x="10083546" y="3520440"/>
            <a:ext cx="142234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เปิดดูตารางและรัน SQL</a:t>
            </a:r>
            <a:endParaRPr lang="en-US" sz="1300" dirty="0"/>
          </a:p>
        </p:txBody>
      </p:sp>
      <p:sp>
        <p:nvSpPr>
          <p:cNvPr id="35" name="text105"/>
          <p:cNvSpPr txBox="1"/>
          <p:nvPr/>
        </p:nvSpPr>
        <p:spPr>
          <a:xfrm>
            <a:off x="548640" y="5074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ติดตั้งเพิ่มแค่ tkcalendar ครั้งเดียวต่อเครื่อง (มีใน requirements.txt)</a:t>
            </a:r>
            <a:endParaRPr lang="en-US" sz="1500" dirty="0"/>
          </a:p>
        </p:txBody>
      </p:sp>
      <p:sp>
        <p:nvSpPr>
          <p:cNvPr id="36" name="code106"/>
          <p:cNvSpPr/>
          <p:nvPr/>
        </p:nvSpPr>
        <p:spPr>
          <a:xfrm>
            <a:off x="548640" y="548640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2E2B2F"/>
          </a:solidFill>
          <a:ln w="12700">
            <a:solidFill>
              <a:srgbClr val="2E2B2F"/>
            </a:solidFill>
            <a:prstDash val="solid"/>
          </a:ln>
        </p:spPr>
      </p:sp>
      <p:sp>
        <p:nvSpPr>
          <p:cNvPr id="37" name="text107"/>
          <p:cNvSpPr txBox="1"/>
          <p:nvPr/>
        </p:nvSpPr>
        <p:spPr>
          <a:xfrm>
            <a:off x="731520" y="560527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python -m pip install tkcalendar</a:t>
            </a:r>
            <a:endParaRPr lang="en-US" sz="1500" dirty="0"/>
          </a:p>
        </p:txBody>
      </p:sp>
      <p:sp>
        <p:nvSpPr>
          <p:cNvPr id="38" name="text108"/>
          <p:cNvSpPr txBox="1"/>
          <p:nvPr/>
        </p:nvSpPr>
        <p:spPr>
          <a:xfrm>
            <a:off x="6400800" y="5074920"/>
            <a:ext cx="52422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ถ้ายังไม่ได้ติดตั้ง โปรแกรมจะแจ้ง "ยังไม่ได้ติดตั้ง tkcalendar" พร้อมคำสั่งนี้ แล้วปิดตัวเอง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ภาพรวมลำดับการทำงาน</a:t>
            </a:r>
            <a:endParaRPr lang="en-US" sz="3000" dirty="0"/>
          </a:p>
        </p:txBody>
      </p:sp>
      <p:sp>
        <p:nvSpPr>
          <p:cNvPr id="3" name="speakerPill109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110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A1</a:t>
            </a:r>
            <a:endParaRPr lang="en-US" sz="1600" dirty="0"/>
          </a:p>
        </p:txBody>
      </p:sp>
      <p:sp>
        <p:nvSpPr>
          <p:cNvPr id="5" name="card111"/>
          <p:cNvSpPr/>
          <p:nvPr/>
        </p:nvSpPr>
        <p:spPr>
          <a:xfrm>
            <a:off x="548640" y="132588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6" name="pill112"/>
          <p:cNvSpPr/>
          <p:nvPr/>
        </p:nvSpPr>
        <p:spPr>
          <a:xfrm>
            <a:off x="1211580" y="15087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7" name="text113"/>
          <p:cNvSpPr txBox="1"/>
          <p:nvPr/>
        </p:nvSpPr>
        <p:spPr>
          <a:xfrm>
            <a:off x="12115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114"/>
          <p:cNvSpPr txBox="1"/>
          <p:nvPr/>
        </p:nvSpPr>
        <p:spPr>
          <a:xfrm>
            <a:off x="658368" y="226771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เปิดโปรแกรม</a:t>
            </a:r>
            <a:endParaRPr lang="en-US" sz="1900" dirty="0"/>
          </a:p>
        </p:txBody>
      </p:sp>
      <p:sp>
        <p:nvSpPr>
          <p:cNvPr id="9" name="text115"/>
          <p:cNvSpPr txBox="1"/>
          <p:nvPr/>
        </p:nvSpPr>
        <p:spPr>
          <a:xfrm>
            <a:off x="704088" y="2743200"/>
            <a:ext cx="1655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clinic.db และ tkcalendar สร้างแถบหัวและ 3 แท็บ</a:t>
            </a:r>
            <a:endParaRPr lang="en-US" sz="1400" dirty="0"/>
          </a:p>
        </p:txBody>
      </p:sp>
      <p:sp>
        <p:nvSpPr>
          <p:cNvPr id="10" name="text116"/>
          <p:cNvSpPr txBox="1"/>
          <p:nvPr/>
        </p:nvSpPr>
        <p:spPr>
          <a:xfrm>
            <a:off x="658368" y="3685032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main.py · database.py</a:t>
            </a:r>
            <a:endParaRPr lang="en-US" sz="1200" dirty="0"/>
          </a:p>
        </p:txBody>
      </p:sp>
      <p:sp>
        <p:nvSpPr>
          <p:cNvPr id="11" name="pill117"/>
          <p:cNvSpPr/>
          <p:nvPr/>
        </p:nvSpPr>
        <p:spPr>
          <a:xfrm>
            <a:off x="1120140" y="406908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DEBF9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2" name="text118"/>
          <p:cNvSpPr txBox="1"/>
          <p:nvPr/>
        </p:nvSpPr>
        <p:spPr>
          <a:xfrm>
            <a:off x="1120140" y="4069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B1</a:t>
            </a:r>
            <a:endParaRPr lang="en-US" sz="1400" dirty="0"/>
          </a:p>
        </p:txBody>
      </p:sp>
      <p:sp>
        <p:nvSpPr>
          <p:cNvPr id="13" name="arrow119"/>
          <p:cNvSpPr/>
          <p:nvPr/>
        </p:nvSpPr>
        <p:spPr>
          <a:xfrm>
            <a:off x="2544661" y="2743200"/>
            <a:ext cx="256032" cy="292608"/>
          </a:xfrm>
          <a:prstGeom prst="rightArrow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4" name="card120"/>
          <p:cNvSpPr/>
          <p:nvPr/>
        </p:nvSpPr>
        <p:spPr>
          <a:xfrm>
            <a:off x="2830754" y="132588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15" name="pill121"/>
          <p:cNvSpPr/>
          <p:nvPr/>
        </p:nvSpPr>
        <p:spPr>
          <a:xfrm>
            <a:off x="3493694" y="15087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6" name="text122"/>
          <p:cNvSpPr txBox="1"/>
          <p:nvPr/>
        </p:nvSpPr>
        <p:spPr>
          <a:xfrm>
            <a:off x="3493694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123"/>
          <p:cNvSpPr txBox="1"/>
          <p:nvPr/>
        </p:nvSpPr>
        <p:spPr>
          <a:xfrm>
            <a:off x="2940482" y="226771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ผู้ป่วย</a:t>
            </a:r>
            <a:endParaRPr lang="en-US" sz="1900" dirty="0"/>
          </a:p>
        </p:txBody>
      </p:sp>
      <p:sp>
        <p:nvSpPr>
          <p:cNvPr id="18" name="text124"/>
          <p:cNvSpPr txBox="1"/>
          <p:nvPr/>
        </p:nvSpPr>
        <p:spPr>
          <a:xfrm>
            <a:off x="2986202" y="2743200"/>
            <a:ext cx="1655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ลงทะเบียน แก้ไข และดูประวัติการรักษา</a:t>
            </a:r>
            <a:endParaRPr lang="en-US" sz="1400" dirty="0"/>
          </a:p>
        </p:txBody>
      </p:sp>
      <p:sp>
        <p:nvSpPr>
          <p:cNvPr id="19" name="text125"/>
          <p:cNvSpPr txBox="1"/>
          <p:nvPr/>
        </p:nvSpPr>
        <p:spPr>
          <a:xfrm>
            <a:off x="2940482" y="3685032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patient_tab.py</a:t>
            </a:r>
            <a:endParaRPr lang="en-US" sz="1200" dirty="0"/>
          </a:p>
        </p:txBody>
      </p:sp>
      <p:sp>
        <p:nvSpPr>
          <p:cNvPr id="20" name="pill126"/>
          <p:cNvSpPr/>
          <p:nvPr/>
        </p:nvSpPr>
        <p:spPr>
          <a:xfrm>
            <a:off x="3402254" y="406908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DEBF9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21" name="text127"/>
          <p:cNvSpPr txBox="1"/>
          <p:nvPr/>
        </p:nvSpPr>
        <p:spPr>
          <a:xfrm>
            <a:off x="3402254" y="4069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400" dirty="0"/>
          </a:p>
        </p:txBody>
      </p:sp>
      <p:sp>
        <p:nvSpPr>
          <p:cNvPr id="22" name="arrow128"/>
          <p:cNvSpPr/>
          <p:nvPr/>
        </p:nvSpPr>
        <p:spPr>
          <a:xfrm>
            <a:off x="4826775" y="2743200"/>
            <a:ext cx="256032" cy="292608"/>
          </a:xfrm>
          <a:prstGeom prst="rightArrow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23" name="card129"/>
          <p:cNvSpPr/>
          <p:nvPr/>
        </p:nvSpPr>
        <p:spPr>
          <a:xfrm>
            <a:off x="5112868" y="132588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24" name="pill130"/>
          <p:cNvSpPr/>
          <p:nvPr/>
        </p:nvSpPr>
        <p:spPr>
          <a:xfrm>
            <a:off x="5775808" y="15087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25" name="text131"/>
          <p:cNvSpPr txBox="1"/>
          <p:nvPr/>
        </p:nvSpPr>
        <p:spPr>
          <a:xfrm>
            <a:off x="5775808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132"/>
          <p:cNvSpPr txBox="1"/>
          <p:nvPr/>
        </p:nvSpPr>
        <p:spPr>
          <a:xfrm>
            <a:off x="5222596" y="226771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จองคิว</a:t>
            </a:r>
            <a:endParaRPr lang="en-US" sz="1900" dirty="0"/>
          </a:p>
        </p:txBody>
      </p:sp>
      <p:sp>
        <p:nvSpPr>
          <p:cNvPr id="27" name="text133"/>
          <p:cNvSpPr txBox="1"/>
          <p:nvPr/>
        </p:nvSpPr>
        <p:spPr>
          <a:xfrm>
            <a:off x="5268316" y="2743200"/>
            <a:ext cx="1655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เบอร์โทร › แผนก › แพทย์ › วันที่ › ช่องว่าง</a:t>
            </a:r>
            <a:endParaRPr lang="en-US" sz="1400" dirty="0"/>
          </a:p>
        </p:txBody>
      </p:sp>
      <p:sp>
        <p:nvSpPr>
          <p:cNvPr id="28" name="text134"/>
          <p:cNvSpPr txBox="1"/>
          <p:nvPr/>
        </p:nvSpPr>
        <p:spPr>
          <a:xfrm>
            <a:off x="5222596" y="3685032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booking_tab.py</a:t>
            </a:r>
            <a:endParaRPr lang="en-US" sz="1200" dirty="0"/>
          </a:p>
        </p:txBody>
      </p:sp>
      <p:sp>
        <p:nvSpPr>
          <p:cNvPr id="29" name="pill135"/>
          <p:cNvSpPr/>
          <p:nvPr/>
        </p:nvSpPr>
        <p:spPr>
          <a:xfrm>
            <a:off x="5684368" y="406908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DEBF9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30" name="text136"/>
          <p:cNvSpPr txBox="1"/>
          <p:nvPr/>
        </p:nvSpPr>
        <p:spPr>
          <a:xfrm>
            <a:off x="5684368" y="4069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400" dirty="0"/>
          </a:p>
        </p:txBody>
      </p:sp>
      <p:sp>
        <p:nvSpPr>
          <p:cNvPr id="31" name="arrow137"/>
          <p:cNvSpPr/>
          <p:nvPr/>
        </p:nvSpPr>
        <p:spPr>
          <a:xfrm>
            <a:off x="7108889" y="2743200"/>
            <a:ext cx="256032" cy="292608"/>
          </a:xfrm>
          <a:prstGeom prst="rightArrow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32" name="card138"/>
          <p:cNvSpPr/>
          <p:nvPr/>
        </p:nvSpPr>
        <p:spPr>
          <a:xfrm>
            <a:off x="7394981" y="132588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33" name="pill139"/>
          <p:cNvSpPr/>
          <p:nvPr/>
        </p:nvSpPr>
        <p:spPr>
          <a:xfrm>
            <a:off x="8057921" y="15087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34" name="text140"/>
          <p:cNvSpPr txBox="1"/>
          <p:nvPr/>
        </p:nvSpPr>
        <p:spPr>
          <a:xfrm>
            <a:off x="8057921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141"/>
          <p:cNvSpPr txBox="1"/>
          <p:nvPr/>
        </p:nvSpPr>
        <p:spPr>
          <a:xfrm>
            <a:off x="7504709" y="226771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ค้นหาคิว</a:t>
            </a:r>
            <a:endParaRPr lang="en-US" sz="1900" dirty="0"/>
          </a:p>
        </p:txBody>
      </p:sp>
      <p:sp>
        <p:nvSpPr>
          <p:cNvPr id="36" name="text142"/>
          <p:cNvSpPr txBox="1"/>
          <p:nvPr/>
        </p:nvSpPr>
        <p:spPr>
          <a:xfrm>
            <a:off x="7550429" y="2743200"/>
            <a:ext cx="1655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ด้วยชื่อบางส่วน เบอร์โทร หรือวันที่</a:t>
            </a:r>
            <a:endParaRPr lang="en-US" sz="1400" dirty="0"/>
          </a:p>
        </p:txBody>
      </p:sp>
      <p:sp>
        <p:nvSpPr>
          <p:cNvPr id="37" name="text143"/>
          <p:cNvSpPr txBox="1"/>
          <p:nvPr/>
        </p:nvSpPr>
        <p:spPr>
          <a:xfrm>
            <a:off x="7504709" y="3685032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search_tab.py</a:t>
            </a:r>
            <a:endParaRPr lang="en-US" sz="1200" dirty="0"/>
          </a:p>
        </p:txBody>
      </p:sp>
      <p:sp>
        <p:nvSpPr>
          <p:cNvPr id="38" name="pill144"/>
          <p:cNvSpPr/>
          <p:nvPr/>
        </p:nvSpPr>
        <p:spPr>
          <a:xfrm>
            <a:off x="7966481" y="406908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DEBF9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39" name="text145"/>
          <p:cNvSpPr txBox="1"/>
          <p:nvPr/>
        </p:nvSpPr>
        <p:spPr>
          <a:xfrm>
            <a:off x="7966481" y="4069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400" dirty="0"/>
          </a:p>
        </p:txBody>
      </p:sp>
      <p:sp>
        <p:nvSpPr>
          <p:cNvPr id="40" name="arrow146"/>
          <p:cNvSpPr/>
          <p:nvPr/>
        </p:nvSpPr>
        <p:spPr>
          <a:xfrm>
            <a:off x="9391002" y="2743200"/>
            <a:ext cx="256032" cy="292608"/>
          </a:xfrm>
          <a:prstGeom prst="rightArrow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41" name="card147"/>
          <p:cNvSpPr/>
          <p:nvPr/>
        </p:nvSpPr>
        <p:spPr>
          <a:xfrm>
            <a:off x="9677095" y="132588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42" name="pill148"/>
          <p:cNvSpPr/>
          <p:nvPr/>
        </p:nvSpPr>
        <p:spPr>
          <a:xfrm>
            <a:off x="10340035" y="15087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43" name="text149"/>
          <p:cNvSpPr txBox="1"/>
          <p:nvPr/>
        </p:nvSpPr>
        <p:spPr>
          <a:xfrm>
            <a:off x="10340035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2000" dirty="0"/>
          </a:p>
        </p:txBody>
      </p:sp>
      <p:sp>
        <p:nvSpPr>
          <p:cNvPr id="44" name="text150"/>
          <p:cNvSpPr txBox="1"/>
          <p:nvPr/>
        </p:nvSpPr>
        <p:spPr>
          <a:xfrm>
            <a:off x="9786823" y="226771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จัดการคิว</a:t>
            </a:r>
            <a:endParaRPr lang="en-US" sz="1900" dirty="0"/>
          </a:p>
        </p:txBody>
      </p:sp>
      <p:sp>
        <p:nvSpPr>
          <p:cNvPr id="45" name="text151"/>
          <p:cNvSpPr txBox="1"/>
          <p:nvPr/>
        </p:nvSpPr>
        <p:spPr>
          <a:xfrm>
            <a:off x="9832543" y="2743200"/>
            <a:ext cx="1655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 หรือบันทึกผลตรวจพร้อมผลวินิจฉัย</a:t>
            </a:r>
            <a:endParaRPr lang="en-US" sz="1400" dirty="0"/>
          </a:p>
        </p:txBody>
      </p:sp>
      <p:sp>
        <p:nvSpPr>
          <p:cNvPr id="46" name="text152"/>
          <p:cNvSpPr txBox="1"/>
          <p:nvPr/>
        </p:nvSpPr>
        <p:spPr>
          <a:xfrm>
            <a:off x="9786823" y="3685032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search_tab.py</a:t>
            </a:r>
            <a:endParaRPr lang="en-US" sz="1200" dirty="0"/>
          </a:p>
        </p:txBody>
      </p:sp>
      <p:sp>
        <p:nvSpPr>
          <p:cNvPr id="47" name="pill153"/>
          <p:cNvSpPr/>
          <p:nvPr/>
        </p:nvSpPr>
        <p:spPr>
          <a:xfrm>
            <a:off x="10248595" y="406908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DEBF9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48" name="text154"/>
          <p:cNvSpPr txBox="1"/>
          <p:nvPr/>
        </p:nvSpPr>
        <p:spPr>
          <a:xfrm>
            <a:off x="10248595" y="4069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400" dirty="0"/>
          </a:p>
        </p:txBody>
      </p:sp>
      <p:sp>
        <p:nvSpPr>
          <p:cNvPr id="49" name="card155"/>
          <p:cNvSpPr/>
          <p:nvPr/>
        </p:nvSpPr>
        <p:spPr>
          <a:xfrm>
            <a:off x="548640" y="475488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FDEBF9"/>
          </a:solidFill>
          <a:ln w="12700">
            <a:solidFill>
              <a:srgbClr val="FDEBF9"/>
            </a:solidFill>
            <a:prstDash val="solid"/>
          </a:ln>
        </p:spPr>
      </p:sp>
      <p:sp>
        <p:nvSpPr>
          <p:cNvPr id="50" name="text156"/>
          <p:cNvSpPr txBox="1"/>
          <p:nvPr/>
        </p:nvSpPr>
        <p:spPr>
          <a:xfrm>
            <a:off x="822960" y="4864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แถบหัว (header_bar.py)</a:t>
            </a:r>
            <a:endParaRPr lang="en-US" sz="1600" dirty="0"/>
          </a:p>
        </p:txBody>
      </p:sp>
      <p:sp>
        <p:nvSpPr>
          <p:cNvPr id="51" name="text157"/>
          <p:cNvSpPr txBox="1"/>
          <p:nvPr/>
        </p:nvSpPr>
        <p:spPr>
          <a:xfrm>
            <a:off x="822960" y="52578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สรุปคิวของวันนี้ 4 ตัวเลข อัปเดตทุกครั้งที่จอง ยกเลิก บันทึกผลตรวจ หรือเปลี่ยนแท็บ</a:t>
            </a:r>
            <a:endParaRPr lang="en-US" sz="1400" dirty="0"/>
          </a:p>
        </p:txBody>
      </p:sp>
      <p:sp>
        <p:nvSpPr>
          <p:cNvPr id="52" name="shotframe158"/>
          <p:cNvSpPr/>
          <p:nvPr/>
        </p:nvSpPr>
        <p:spPr>
          <a:xfrm>
            <a:off x="4727448" y="5238477"/>
            <a:ext cx="6668719" cy="504990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53" name="shot159" descr="shots/header_numb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5265909"/>
            <a:ext cx="6613855" cy="4501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 Diagram (Crow's Foot)</a:t>
            </a:r>
            <a:endParaRPr lang="en-US" sz="3000" dirty="0"/>
          </a:p>
        </p:txBody>
      </p:sp>
      <p:sp>
        <p:nvSpPr>
          <p:cNvPr id="3" name="speakerPill160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161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B1</a:t>
            </a:r>
            <a:endParaRPr lang="en-US" sz="1600" dirty="0"/>
          </a:p>
        </p:txBody>
      </p:sp>
      <p:pic>
        <p:nvPicPr>
          <p:cNvPr id="5" name="erDiagram" descr="er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448" y="1188720"/>
            <a:ext cx="10972800" cy="4351006"/>
          </a:xfrm>
          <a:prstGeom prst="rect">
            <a:avLst/>
          </a:prstGeom>
        </p:spPr>
      </p:pic>
      <p:sp>
        <p:nvSpPr>
          <p:cNvPr id="6" name="text162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patients กับ schedules เป็นหลายต่อหลาย เชื่อมผ่าน appointments · 1 คิวมีผลการรักษาได้ 0 หรือ 1 แถว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 6 ตาราง</a:t>
            </a:r>
            <a:endParaRPr lang="en-US" sz="3000" dirty="0"/>
          </a:p>
        </p:txBody>
      </p:sp>
      <p:sp>
        <p:nvSpPr>
          <p:cNvPr id="3" name="speakerPill163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164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B1</a:t>
            </a:r>
            <a:endParaRPr lang="en-US" sz="1600" dirty="0"/>
          </a:p>
        </p:txBody>
      </p:sp>
      <p:sp>
        <p:nvSpPr>
          <p:cNvPr id="5" name="card165"/>
          <p:cNvSpPr/>
          <p:nvPr/>
        </p:nvSpPr>
        <p:spPr>
          <a:xfrm>
            <a:off x="548640" y="1298448"/>
            <a:ext cx="1727149" cy="4114800"/>
          </a:xfrm>
          <a:prstGeom prst="roundRect">
            <a:avLst>
              <a:gd name="adj" fmla="val 6353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6" name="thead0"/>
          <p:cNvSpPr/>
          <p:nvPr/>
        </p:nvSpPr>
        <p:spPr>
          <a:xfrm>
            <a:off x="548640" y="1298448"/>
            <a:ext cx="1727149" cy="822960"/>
          </a:xfrm>
          <a:prstGeom prst="roundRect">
            <a:avLst>
              <a:gd name="adj" fmla="val 13333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7" name="theadfix0"/>
          <p:cNvSpPr/>
          <p:nvPr/>
        </p:nvSpPr>
        <p:spPr>
          <a:xfrm>
            <a:off x="548640" y="1847088"/>
            <a:ext cx="1727149" cy="274320"/>
          </a:xfrm>
          <a:prstGeom prst="rect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8" name="text166"/>
          <p:cNvSpPr txBox="1"/>
          <p:nvPr/>
        </p:nvSpPr>
        <p:spPr>
          <a:xfrm>
            <a:off x="658368" y="1371600"/>
            <a:ext cx="15076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departments</a:t>
            </a:r>
            <a:endParaRPr lang="en-US" sz="1500" dirty="0"/>
          </a:p>
        </p:txBody>
      </p:sp>
      <p:sp>
        <p:nvSpPr>
          <p:cNvPr id="9" name="text167"/>
          <p:cNvSpPr txBox="1"/>
          <p:nvPr/>
        </p:nvSpPr>
        <p:spPr>
          <a:xfrm>
            <a:off x="658368" y="1737360"/>
            <a:ext cx="15076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</a:t>
            </a:r>
            <a:endParaRPr lang="en-US" sz="1250" dirty="0"/>
          </a:p>
        </p:txBody>
      </p:sp>
      <p:sp>
        <p:nvSpPr>
          <p:cNvPr id="10" name="text168"/>
          <p:cNvSpPr txBox="1"/>
          <p:nvPr/>
        </p:nvSpPr>
        <p:spPr>
          <a:xfrm>
            <a:off x="658368" y="2286000"/>
            <a:ext cx="1507693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dept_id  PK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dept_name  UNIQUE</a:t>
            </a:r>
            <a:endParaRPr lang="en-US" sz="1250" dirty="0"/>
          </a:p>
        </p:txBody>
      </p:sp>
      <p:sp>
        <p:nvSpPr>
          <p:cNvPr id="11" name="card169"/>
          <p:cNvSpPr/>
          <p:nvPr/>
        </p:nvSpPr>
        <p:spPr>
          <a:xfrm>
            <a:off x="2422093" y="1298448"/>
            <a:ext cx="1727149" cy="4114800"/>
          </a:xfrm>
          <a:prstGeom prst="roundRect">
            <a:avLst>
              <a:gd name="adj" fmla="val 6353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12" name="thead1"/>
          <p:cNvSpPr/>
          <p:nvPr/>
        </p:nvSpPr>
        <p:spPr>
          <a:xfrm>
            <a:off x="2422093" y="1298448"/>
            <a:ext cx="1727149" cy="822960"/>
          </a:xfrm>
          <a:prstGeom prst="roundRect">
            <a:avLst>
              <a:gd name="adj" fmla="val 13333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3" name="theadfix1"/>
          <p:cNvSpPr/>
          <p:nvPr/>
        </p:nvSpPr>
        <p:spPr>
          <a:xfrm>
            <a:off x="2422093" y="1847088"/>
            <a:ext cx="1727149" cy="274320"/>
          </a:xfrm>
          <a:prstGeom prst="rect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4" name="text170"/>
          <p:cNvSpPr txBox="1"/>
          <p:nvPr/>
        </p:nvSpPr>
        <p:spPr>
          <a:xfrm>
            <a:off x="2531821" y="1371600"/>
            <a:ext cx="15076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doctors</a:t>
            </a:r>
            <a:endParaRPr lang="en-US" sz="1500" dirty="0"/>
          </a:p>
        </p:txBody>
      </p:sp>
      <p:sp>
        <p:nvSpPr>
          <p:cNvPr id="15" name="text171"/>
          <p:cNvSpPr txBox="1"/>
          <p:nvPr/>
        </p:nvSpPr>
        <p:spPr>
          <a:xfrm>
            <a:off x="2531821" y="1737360"/>
            <a:ext cx="15076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แพทย์</a:t>
            </a:r>
            <a:endParaRPr lang="en-US" sz="1250" dirty="0"/>
          </a:p>
        </p:txBody>
      </p:sp>
      <p:sp>
        <p:nvSpPr>
          <p:cNvPr id="16" name="text172"/>
          <p:cNvSpPr txBox="1"/>
          <p:nvPr/>
        </p:nvSpPr>
        <p:spPr>
          <a:xfrm>
            <a:off x="2531821" y="2286000"/>
            <a:ext cx="1507693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doctor_id  PK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doctor_name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dept_id  FK</a:t>
            </a:r>
            <a:endParaRPr lang="en-US" sz="1250" dirty="0"/>
          </a:p>
        </p:txBody>
      </p:sp>
      <p:sp>
        <p:nvSpPr>
          <p:cNvPr id="17" name="card173"/>
          <p:cNvSpPr/>
          <p:nvPr/>
        </p:nvSpPr>
        <p:spPr>
          <a:xfrm>
            <a:off x="4295546" y="1298448"/>
            <a:ext cx="1727149" cy="4114800"/>
          </a:xfrm>
          <a:prstGeom prst="roundRect">
            <a:avLst>
              <a:gd name="adj" fmla="val 6353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18" name="thead2"/>
          <p:cNvSpPr/>
          <p:nvPr/>
        </p:nvSpPr>
        <p:spPr>
          <a:xfrm>
            <a:off x="4295546" y="1298448"/>
            <a:ext cx="1727149" cy="822960"/>
          </a:xfrm>
          <a:prstGeom prst="roundRect">
            <a:avLst>
              <a:gd name="adj" fmla="val 13333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9" name="theadfix2"/>
          <p:cNvSpPr/>
          <p:nvPr/>
        </p:nvSpPr>
        <p:spPr>
          <a:xfrm>
            <a:off x="4295546" y="1847088"/>
            <a:ext cx="1727149" cy="274320"/>
          </a:xfrm>
          <a:prstGeom prst="rect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20" name="text174"/>
          <p:cNvSpPr txBox="1"/>
          <p:nvPr/>
        </p:nvSpPr>
        <p:spPr>
          <a:xfrm>
            <a:off x="4405274" y="1371600"/>
            <a:ext cx="15076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patients</a:t>
            </a:r>
            <a:endParaRPr lang="en-US" sz="1500" dirty="0"/>
          </a:p>
        </p:txBody>
      </p:sp>
      <p:sp>
        <p:nvSpPr>
          <p:cNvPr id="21" name="text175"/>
          <p:cNvSpPr txBox="1"/>
          <p:nvPr/>
        </p:nvSpPr>
        <p:spPr>
          <a:xfrm>
            <a:off x="4405274" y="1737360"/>
            <a:ext cx="15076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ผู้ป่วย</a:t>
            </a:r>
            <a:endParaRPr lang="en-US" sz="1250" dirty="0"/>
          </a:p>
        </p:txBody>
      </p:sp>
      <p:sp>
        <p:nvSpPr>
          <p:cNvPr id="22" name="text176"/>
          <p:cNvSpPr txBox="1"/>
          <p:nvPr/>
        </p:nvSpPr>
        <p:spPr>
          <a:xfrm>
            <a:off x="4405274" y="2286000"/>
            <a:ext cx="1507693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patient_id  PK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patient_name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phone  UNIQUE + CHECK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birth_date  CHECK</a:t>
            </a:r>
            <a:endParaRPr lang="en-US" sz="1250" dirty="0"/>
          </a:p>
        </p:txBody>
      </p:sp>
      <p:sp>
        <p:nvSpPr>
          <p:cNvPr id="23" name="card177"/>
          <p:cNvSpPr/>
          <p:nvPr/>
        </p:nvSpPr>
        <p:spPr>
          <a:xfrm>
            <a:off x="6169000" y="1298448"/>
            <a:ext cx="1727149" cy="4114800"/>
          </a:xfrm>
          <a:prstGeom prst="roundRect">
            <a:avLst>
              <a:gd name="adj" fmla="val 6353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24" name="thead3"/>
          <p:cNvSpPr/>
          <p:nvPr/>
        </p:nvSpPr>
        <p:spPr>
          <a:xfrm>
            <a:off x="6169000" y="1298448"/>
            <a:ext cx="1727149" cy="822960"/>
          </a:xfrm>
          <a:prstGeom prst="roundRect">
            <a:avLst>
              <a:gd name="adj" fmla="val 13333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25" name="theadfix3"/>
          <p:cNvSpPr/>
          <p:nvPr/>
        </p:nvSpPr>
        <p:spPr>
          <a:xfrm>
            <a:off x="6169000" y="1847088"/>
            <a:ext cx="1727149" cy="274320"/>
          </a:xfrm>
          <a:prstGeom prst="rect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26" name="text178"/>
          <p:cNvSpPr txBox="1"/>
          <p:nvPr/>
        </p:nvSpPr>
        <p:spPr>
          <a:xfrm>
            <a:off x="6278728" y="1371600"/>
            <a:ext cx="15076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schedules</a:t>
            </a:r>
            <a:endParaRPr lang="en-US" sz="1500" dirty="0"/>
          </a:p>
        </p:txBody>
      </p:sp>
      <p:sp>
        <p:nvSpPr>
          <p:cNvPr id="27" name="text179"/>
          <p:cNvSpPr txBox="1"/>
          <p:nvPr/>
        </p:nvSpPr>
        <p:spPr>
          <a:xfrm>
            <a:off x="6278728" y="1737360"/>
            <a:ext cx="15076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ช่องเวลาออกตรวจ</a:t>
            </a:r>
            <a:endParaRPr lang="en-US" sz="1250" dirty="0"/>
          </a:p>
        </p:txBody>
      </p:sp>
      <p:sp>
        <p:nvSpPr>
          <p:cNvPr id="28" name="text180"/>
          <p:cNvSpPr txBox="1"/>
          <p:nvPr/>
        </p:nvSpPr>
        <p:spPr>
          <a:xfrm>
            <a:off x="6278728" y="2286000"/>
            <a:ext cx="1507693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schedule_id  PK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doctor_id  FK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work_date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slot_time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UNIQUE (doctor_id, work_date, slot_time)</a:t>
            </a:r>
            <a:endParaRPr lang="en-US" sz="1250" dirty="0"/>
          </a:p>
        </p:txBody>
      </p:sp>
      <p:sp>
        <p:nvSpPr>
          <p:cNvPr id="29" name="card181"/>
          <p:cNvSpPr/>
          <p:nvPr/>
        </p:nvSpPr>
        <p:spPr>
          <a:xfrm>
            <a:off x="8042453" y="1298448"/>
            <a:ext cx="1727149" cy="4114800"/>
          </a:xfrm>
          <a:prstGeom prst="roundRect">
            <a:avLst>
              <a:gd name="adj" fmla="val 6353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30" name="thead4"/>
          <p:cNvSpPr/>
          <p:nvPr/>
        </p:nvSpPr>
        <p:spPr>
          <a:xfrm>
            <a:off x="8042453" y="1298448"/>
            <a:ext cx="1727149" cy="822960"/>
          </a:xfrm>
          <a:prstGeom prst="roundRect">
            <a:avLst>
              <a:gd name="adj" fmla="val 13333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31" name="theadfix4"/>
          <p:cNvSpPr/>
          <p:nvPr/>
        </p:nvSpPr>
        <p:spPr>
          <a:xfrm>
            <a:off x="8042453" y="1847088"/>
            <a:ext cx="1727149" cy="274320"/>
          </a:xfrm>
          <a:prstGeom prst="rect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32" name="text182"/>
          <p:cNvSpPr txBox="1"/>
          <p:nvPr/>
        </p:nvSpPr>
        <p:spPr>
          <a:xfrm>
            <a:off x="8152181" y="1371600"/>
            <a:ext cx="15076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appointments</a:t>
            </a:r>
            <a:endParaRPr lang="en-US" sz="1500" dirty="0"/>
          </a:p>
        </p:txBody>
      </p:sp>
      <p:sp>
        <p:nvSpPr>
          <p:cNvPr id="33" name="text183"/>
          <p:cNvSpPr txBox="1"/>
          <p:nvPr/>
        </p:nvSpPr>
        <p:spPr>
          <a:xfrm>
            <a:off x="8152181" y="1737360"/>
            <a:ext cx="15076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การจองคิว</a:t>
            </a:r>
            <a:endParaRPr lang="en-US" sz="1250" dirty="0"/>
          </a:p>
        </p:txBody>
      </p:sp>
      <p:sp>
        <p:nvSpPr>
          <p:cNvPr id="34" name="text184"/>
          <p:cNvSpPr txBox="1"/>
          <p:nvPr/>
        </p:nvSpPr>
        <p:spPr>
          <a:xfrm>
            <a:off x="8152181" y="2286000"/>
            <a:ext cx="1507693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appt_id  PK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patient_id  FK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schedule_id  FK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symptom  ว่างได้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status  3 ค่า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booked_at  DEFAULT</a:t>
            </a:r>
            <a:endParaRPr lang="en-US" sz="1250" dirty="0"/>
          </a:p>
        </p:txBody>
      </p:sp>
      <p:sp>
        <p:nvSpPr>
          <p:cNvPr id="35" name="card185"/>
          <p:cNvSpPr/>
          <p:nvPr/>
        </p:nvSpPr>
        <p:spPr>
          <a:xfrm>
            <a:off x="9915906" y="1298448"/>
            <a:ext cx="1727149" cy="4114800"/>
          </a:xfrm>
          <a:prstGeom prst="roundRect">
            <a:avLst>
              <a:gd name="adj" fmla="val 6353"/>
            </a:avLst>
          </a:prstGeom>
          <a:solidFill>
            <a:srgbClr val="FFFFFF"/>
          </a:solidFill>
          <a:ln w="19050">
            <a:solidFill>
              <a:srgbClr val="D9486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36" name="thead5"/>
          <p:cNvSpPr/>
          <p:nvPr/>
        </p:nvSpPr>
        <p:spPr>
          <a:xfrm>
            <a:off x="9915906" y="1298448"/>
            <a:ext cx="1727149" cy="822960"/>
          </a:xfrm>
          <a:prstGeom prst="roundRect">
            <a:avLst>
              <a:gd name="adj" fmla="val 13333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37" name="theadfix5"/>
          <p:cNvSpPr/>
          <p:nvPr/>
        </p:nvSpPr>
        <p:spPr>
          <a:xfrm>
            <a:off x="9915906" y="1847088"/>
            <a:ext cx="1727149" cy="274320"/>
          </a:xfrm>
          <a:prstGeom prst="rect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38" name="text186"/>
          <p:cNvSpPr txBox="1"/>
          <p:nvPr/>
        </p:nvSpPr>
        <p:spPr>
          <a:xfrm>
            <a:off x="10025634" y="1371600"/>
            <a:ext cx="15076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treatments</a:t>
            </a:r>
            <a:endParaRPr lang="en-US" sz="1500" dirty="0"/>
          </a:p>
        </p:txBody>
      </p:sp>
      <p:sp>
        <p:nvSpPr>
          <p:cNvPr id="39" name="text187"/>
          <p:cNvSpPr txBox="1"/>
          <p:nvPr/>
        </p:nvSpPr>
        <p:spPr>
          <a:xfrm>
            <a:off x="10025634" y="1737360"/>
            <a:ext cx="15076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ผลการรักษา</a:t>
            </a:r>
            <a:endParaRPr lang="en-US" sz="1250" dirty="0"/>
          </a:p>
        </p:txBody>
      </p:sp>
      <p:sp>
        <p:nvSpPr>
          <p:cNvPr id="40" name="text188"/>
          <p:cNvSpPr txBox="1"/>
          <p:nvPr/>
        </p:nvSpPr>
        <p:spPr>
          <a:xfrm>
            <a:off x="10025634" y="2286000"/>
            <a:ext cx="1507693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treatment_id  PK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appt_id  FK + UNIQUE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diagnosis  NOT NULL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treatment  ว่างได้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recorded_at  DEFAULT</a:t>
            </a:r>
            <a:endParaRPr lang="en-US" sz="1250" dirty="0"/>
          </a:p>
        </p:txBody>
      </p:sp>
      <p:sp>
        <p:nvSpPr>
          <p:cNvPr id="41" name="card189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FDEBF9"/>
          </a:solidFill>
          <a:ln w="12700">
            <a:solidFill>
              <a:srgbClr val="FDEBF9"/>
            </a:solidFill>
            <a:prstDash val="solid"/>
          </a:ln>
        </p:spPr>
      </p:sp>
      <p:sp>
        <p:nvSpPr>
          <p:cNvPr id="42" name="text190"/>
          <p:cNvSpPr txBox="1"/>
          <p:nvPr/>
        </p:nvSpPr>
        <p:spPr>
          <a:xfrm>
            <a:off x="777240" y="55778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3NF: </a:t>
            </a:r>
            <a:pPr indent="0" marL="0">
              <a:buNone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ข้อมูลแต่ละอย่างเก็บที่เดียว appointments เก็บแค่ patient_id กับ schedule_id ส่วน treatments เก็บแค่ appt_id ไม่เก็บ patient_id ซ้ำ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กฎของระบบ และป้องกันไว้ที่ไหน</a:t>
            </a:r>
            <a:endParaRPr lang="en-US" sz="3000" dirty="0"/>
          </a:p>
        </p:txBody>
      </p:sp>
      <p:sp>
        <p:nvSpPr>
          <p:cNvPr id="3" name="speakerPill191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192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B1</a:t>
            </a:r>
            <a:endParaRPr lang="en-US" sz="1600" dirty="0"/>
          </a:p>
        </p:txBody>
      </p:sp>
      <p:graphicFrame>
        <p:nvGraphicFramePr>
          <p:cNvPr id="9" name="rules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776472"/>
                <a:gridCol w="34747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กฎ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82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ฐานข้อมูลกันไว้ด้วย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82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โปรแกรมเช็กเพิ่ม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82C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 ช่องเวลา มีคิวที่ยังไม่ยกเลิกได้ 1 คิว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UNIQUE แบบมีเงื่อนไข (partial index) ไม่นับคิวที่ยกเลิก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แสดงเฉพาะช่องว่าง + นับซ้ำตอนบันทึก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แพทย์ห้ามมีช่องเวลาซ้ำ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UNIQUE (doctor_id, work_date, slot_time)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ผู้ป่วยห้ามมีคิวซ้อนเวลาเดียวกัน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 (ต้องดูวันเวลาจาก schedules)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SELECT หาคิวซ้อนก่อน INSERT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จองได้เฉพาะช่องที่ยังไม่ถึงเวลา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 (CHECK ใช้ date('now') ไม่ได้)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กรองด้วยเวลาปัจจุบัน + เช็กซ้ำตอนบันทึก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ยกเลิกไม่ลบแถว และยกเลิกซ้ำไม่ได้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status CHECK 3 ค่า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UPDATE … AND status = 'จองแล้ว'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คิวที่ตรวจแล้วมีผลวินิจฉัย 1 แถว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treatments: appt_id UNIQUE, diagnosis NOT NULL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ฟอร์มบังคับกรอก + transaction 2 คำสั่ง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เบอร์ห้ามซ้ำ / วันเกิดเป็นวันที่จริง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UNIQUE + CHECK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ตรวจฟอร์มก่อนบันทึก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ลบข้อมูลที่ยังถูกอ้างถึงไม่ได้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FOREIGN KEY ทุกเส้น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PRAGMA foreign_keys = ON ทุกครั้ง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 SQL</a:t>
            </a:r>
            <a:endParaRPr lang="en-US" sz="3000" dirty="0"/>
          </a:p>
        </p:txBody>
      </p:sp>
      <p:sp>
        <p:nvSpPr>
          <p:cNvPr id="3" name="speakerPill193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194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B1</a:t>
            </a:r>
            <a:endParaRPr lang="en-US" sz="1600" dirty="0"/>
          </a:p>
        </p:txBody>
      </p:sp>
      <p:sp>
        <p:nvSpPr>
          <p:cNvPr id="5" name="text195"/>
          <p:cNvSpPr txBox="1"/>
          <p:nvPr/>
        </p:nvSpPr>
        <p:spPr>
          <a:xfrm>
            <a:off x="548640" y="123444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SELECT · คิวของวันนี้ (sql_examples.py ข้อ 1)</a:t>
            </a:r>
            <a:endParaRPr lang="en-US" sz="1500" dirty="0"/>
          </a:p>
        </p:txBody>
      </p:sp>
      <p:sp>
        <p:nvSpPr>
          <p:cNvPr id="6" name="code196"/>
          <p:cNvSpPr/>
          <p:nvPr/>
        </p:nvSpPr>
        <p:spPr>
          <a:xfrm>
            <a:off x="548640" y="1627632"/>
            <a:ext cx="4983480" cy="2331720"/>
          </a:xfrm>
          <a:prstGeom prst="roundRect">
            <a:avLst>
              <a:gd name="adj" fmla="val 3137"/>
            </a:avLst>
          </a:prstGeom>
          <a:solidFill>
            <a:srgbClr val="2E2B2F"/>
          </a:solidFill>
          <a:ln w="12700">
            <a:solidFill>
              <a:srgbClr val="2E2B2F"/>
            </a:solidFill>
            <a:prstDash val="solid"/>
          </a:ln>
        </p:spPr>
      </p:sp>
      <p:sp>
        <p:nvSpPr>
          <p:cNvPr id="7" name="text197"/>
          <p:cNvSpPr txBox="1"/>
          <p:nvPr/>
        </p:nvSpPr>
        <p:spPr>
          <a:xfrm>
            <a:off x="731520" y="1746504"/>
            <a:ext cx="466344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SELECT a.appt_id, s.slot_time, p.patient_name,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d.doctor_name, dp.dept_name, a.status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appointments 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JOIN patients p ON a.patient_id = p.patient_id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JOIN schedules s ON a.schedule_id = s.schedule_id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JOIN doctors d ON s.doctor_id = d.doctor_id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JOIN departments dp ON d.dept_id = dp.dept_id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 s.work_date = date('now', 'localtime')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ORDER BY s.slot_time, d.doctor_id;</a:t>
            </a:r>
            <a:endParaRPr lang="en-US" sz="1200" dirty="0"/>
          </a:p>
        </p:txBody>
      </p:sp>
      <p:sp>
        <p:nvSpPr>
          <p:cNvPr id="8" name="pill198"/>
          <p:cNvSpPr/>
          <p:nvPr/>
        </p:nvSpPr>
        <p:spPr>
          <a:xfrm>
            <a:off x="548640" y="404164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DEBF9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9" name="text199"/>
          <p:cNvSpPr txBox="1"/>
          <p:nvPr/>
        </p:nvSpPr>
        <p:spPr>
          <a:xfrm>
            <a:off x="548640" y="40416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ผล: 7 แถว</a:t>
            </a:r>
            <a:endParaRPr lang="en-US" sz="1300" dirty="0"/>
          </a:p>
        </p:txBody>
      </p:sp>
      <p:sp>
        <p:nvSpPr>
          <p:cNvPr id="10" name="text200"/>
          <p:cNvSpPr txBox="1"/>
          <p:nvPr/>
        </p:nvSpPr>
        <p:spPr>
          <a:xfrm>
            <a:off x="5806440" y="1234440"/>
            <a:ext cx="5836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SELECT · ตัวเลขบนแถบหัว (get_today_summary)</a:t>
            </a:r>
            <a:endParaRPr lang="en-US" sz="1500" dirty="0"/>
          </a:p>
        </p:txBody>
      </p:sp>
      <p:sp>
        <p:nvSpPr>
          <p:cNvPr id="11" name="code201"/>
          <p:cNvSpPr/>
          <p:nvPr/>
        </p:nvSpPr>
        <p:spPr>
          <a:xfrm>
            <a:off x="5806440" y="1627632"/>
            <a:ext cx="5836615" cy="2331720"/>
          </a:xfrm>
          <a:prstGeom prst="roundRect">
            <a:avLst>
              <a:gd name="adj" fmla="val 3137"/>
            </a:avLst>
          </a:prstGeom>
          <a:solidFill>
            <a:srgbClr val="2E2B2F"/>
          </a:solidFill>
          <a:ln w="12700">
            <a:solidFill>
              <a:srgbClr val="2E2B2F"/>
            </a:solidFill>
            <a:prstDash val="solid"/>
          </a:ln>
        </p:spPr>
      </p:sp>
      <p:sp>
        <p:nvSpPr>
          <p:cNvPr id="12" name="text202"/>
          <p:cNvSpPr txBox="1"/>
          <p:nvPr/>
        </p:nvSpPr>
        <p:spPr>
          <a:xfrm>
            <a:off x="5989320" y="1746504"/>
            <a:ext cx="5516575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SELECT COUNT(*),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IFNULL(SUM(CASE WHEN a.status = 'ตรวจแล้ว' THEN 1 ELSE 0 END), 0),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IFNULL(SUM(CASE WHEN a.status = 'จองแล้ว' THEN 1 ELSE 0 END), 0),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IFNULL(SUM(CASE WHEN a.status = 'ยกเลิก' THEN 1 ELSE 0 END), 0)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appointments 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JOIN schedules s ON a.schedule_id = s.schedule_id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 s.work_date = date('now', 'localtime');</a:t>
            </a:r>
            <a:endParaRPr lang="en-US" sz="1200" dirty="0"/>
          </a:p>
        </p:txBody>
      </p:sp>
      <p:sp>
        <p:nvSpPr>
          <p:cNvPr id="13" name="pill203"/>
          <p:cNvSpPr/>
          <p:nvPr/>
        </p:nvSpPr>
        <p:spPr>
          <a:xfrm>
            <a:off x="5806440" y="4041648"/>
            <a:ext cx="5836615" cy="384048"/>
          </a:xfrm>
          <a:prstGeom prst="roundRect">
            <a:avLst>
              <a:gd name="adj" fmla="val 50000"/>
            </a:avLst>
          </a:prstGeom>
          <a:solidFill>
            <a:srgbClr val="FDEBF9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4" name="text204"/>
          <p:cNvSpPr txBox="1"/>
          <p:nvPr/>
        </p:nvSpPr>
        <p:spPr>
          <a:xfrm>
            <a:off x="5806440" y="4041648"/>
            <a:ext cx="5836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ผล: 7 | 0 | 6 | 1  (คิวทั้งหมด | ตรวจแล้ว | รอตรวจ | ยกเลิก)</a:t>
            </a:r>
            <a:endParaRPr lang="en-US" sz="1300" dirty="0"/>
          </a:p>
        </p:txBody>
      </p:sp>
      <p:sp>
        <p:nvSpPr>
          <p:cNvPr id="15" name="text205"/>
          <p:cNvSpPr txBox="1"/>
          <p:nvPr/>
        </p:nvSpPr>
        <p:spPr>
          <a:xfrm>
            <a:off x="548640" y="45720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UPDATE · ยกเลิกคิว (ข้อ 6)</a:t>
            </a:r>
            <a:endParaRPr lang="en-US" sz="1500" dirty="0"/>
          </a:p>
        </p:txBody>
      </p:sp>
      <p:sp>
        <p:nvSpPr>
          <p:cNvPr id="16" name="code206"/>
          <p:cNvSpPr/>
          <p:nvPr/>
        </p:nvSpPr>
        <p:spPr>
          <a:xfrm>
            <a:off x="548640" y="4956048"/>
            <a:ext cx="4983480" cy="731520"/>
          </a:xfrm>
          <a:prstGeom prst="roundRect">
            <a:avLst>
              <a:gd name="adj" fmla="val 10000"/>
            </a:avLst>
          </a:prstGeom>
          <a:solidFill>
            <a:srgbClr val="2E2B2F"/>
          </a:solidFill>
          <a:ln w="12700">
            <a:solidFill>
              <a:srgbClr val="2E2B2F"/>
            </a:solidFill>
            <a:prstDash val="solid"/>
          </a:ln>
        </p:spPr>
      </p:sp>
      <p:sp>
        <p:nvSpPr>
          <p:cNvPr id="17" name="text207"/>
          <p:cNvSpPr txBox="1"/>
          <p:nvPr/>
        </p:nvSpPr>
        <p:spPr>
          <a:xfrm>
            <a:off x="731520" y="507492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UPDATE appointments SET status = 'ยกเลิก'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 appt_id = ? AND status = 'จองแล้ว';</a:t>
            </a:r>
            <a:endParaRPr lang="en-US" sz="1200" dirty="0"/>
          </a:p>
        </p:txBody>
      </p:sp>
      <p:sp>
        <p:nvSpPr>
          <p:cNvPr id="18" name="text208"/>
          <p:cNvSpPr txBox="1"/>
          <p:nvPr/>
        </p:nvSpPr>
        <p:spPr>
          <a:xfrm>
            <a:off x="548640" y="57607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 1 แถว · สั่งซ้ำได้ 0 แถว = ยกเลิกซ้ำไม่ได้</a:t>
            </a:r>
            <a:endParaRPr lang="en-US" sz="1300" dirty="0"/>
          </a:p>
        </p:txBody>
      </p:sp>
      <p:sp>
        <p:nvSpPr>
          <p:cNvPr id="19" name="text209"/>
          <p:cNvSpPr txBox="1"/>
          <p:nvPr/>
        </p:nvSpPr>
        <p:spPr>
          <a:xfrm>
            <a:off x="5806440" y="4572000"/>
            <a:ext cx="5836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DELETE · ลบผู้ป่วยที่มีคิว (ข้อ 10)</a:t>
            </a:r>
            <a:endParaRPr lang="en-US" sz="1500" dirty="0"/>
          </a:p>
        </p:txBody>
      </p:sp>
      <p:sp>
        <p:nvSpPr>
          <p:cNvPr id="20" name="code210"/>
          <p:cNvSpPr/>
          <p:nvPr/>
        </p:nvSpPr>
        <p:spPr>
          <a:xfrm>
            <a:off x="5806440" y="4956048"/>
            <a:ext cx="5836615" cy="502920"/>
          </a:xfrm>
          <a:prstGeom prst="roundRect">
            <a:avLst>
              <a:gd name="adj" fmla="val 14545"/>
            </a:avLst>
          </a:prstGeom>
          <a:solidFill>
            <a:srgbClr val="2E2B2F"/>
          </a:solidFill>
          <a:ln w="12700">
            <a:solidFill>
              <a:srgbClr val="2E2B2F"/>
            </a:solidFill>
            <a:prstDash val="solid"/>
          </a:ln>
        </p:spPr>
      </p:sp>
      <p:sp>
        <p:nvSpPr>
          <p:cNvPr id="21" name="text211"/>
          <p:cNvSpPr txBox="1"/>
          <p:nvPr/>
        </p:nvSpPr>
        <p:spPr>
          <a:xfrm>
            <a:off x="5989320" y="5074920"/>
            <a:ext cx="551657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DELETE FROM patients WHERE patient_id = ?;</a:t>
            </a:r>
            <a:endParaRPr lang="en-US" sz="1200" dirty="0"/>
          </a:p>
        </p:txBody>
      </p:sp>
      <p:pic>
        <p:nvPicPr>
          <p:cNvPr id="22" name="fkfai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5605272"/>
            <a:ext cx="256032" cy="256032"/>
          </a:xfrm>
          <a:prstGeom prst="rect">
            <a:avLst/>
          </a:prstGeom>
        </p:spPr>
      </p:pic>
      <p:sp>
        <p:nvSpPr>
          <p:cNvPr id="23" name="text212"/>
          <p:cNvSpPr txBox="1"/>
          <p:nvPr/>
        </p:nvSpPr>
        <p:spPr>
          <a:xfrm>
            <a:off x="6172200" y="5532120"/>
            <a:ext cx="5470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FOREIGN KEY constraint failed: สมหญิงยังมี 2 คิว ระบบจึงไม่ยอมลบ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การเชื่อมต่อฐานข้อมูล (database.py)</a:t>
            </a:r>
            <a:endParaRPr lang="en-US" sz="3000" dirty="0"/>
          </a:p>
        </p:txBody>
      </p:sp>
      <p:sp>
        <p:nvSpPr>
          <p:cNvPr id="3" name="speakerPill213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214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B1</a:t>
            </a:r>
            <a:endParaRPr lang="en-US" sz="1600" dirty="0"/>
          </a:p>
        </p:txBody>
      </p:sp>
      <p:sp>
        <p:nvSpPr>
          <p:cNvPr id="5" name="card215"/>
          <p:cNvSpPr/>
          <p:nvPr/>
        </p:nvSpPr>
        <p:spPr>
          <a:xfrm>
            <a:off x="548640" y="132588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6" name="iconbg216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7" name="icon21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703070"/>
            <a:ext cx="297180" cy="297180"/>
          </a:xfrm>
          <a:prstGeom prst="rect">
            <a:avLst/>
          </a:prstGeom>
        </p:spPr>
      </p:pic>
      <p:sp>
        <p:nvSpPr>
          <p:cNvPr id="8" name="text218"/>
          <p:cNvSpPr txBox="1"/>
          <p:nvPr/>
        </p:nvSpPr>
        <p:spPr>
          <a:xfrm>
            <a:off x="155448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ทุกครั้งที่ใช้ฐานข้อมูล</a:t>
            </a:r>
            <a:endParaRPr lang="en-US" sz="1900" dirty="0"/>
          </a:p>
        </p:txBody>
      </p:sp>
      <p:sp>
        <p:nvSpPr>
          <p:cNvPr id="9" name="pill219"/>
          <p:cNvSpPr/>
          <p:nvPr/>
        </p:nvSpPr>
        <p:spPr>
          <a:xfrm>
            <a:off x="1097280" y="2240280"/>
            <a:ext cx="4297680" cy="438912"/>
          </a:xfrm>
          <a:prstGeom prst="roundRect">
            <a:avLst>
              <a:gd name="adj" fmla="val 50000"/>
            </a:avLst>
          </a:prstGeom>
          <a:solidFill>
            <a:srgbClr val="FDEBF9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0" name="text220"/>
          <p:cNvSpPr txBox="1"/>
          <p:nvPr/>
        </p:nvSpPr>
        <p:spPr>
          <a:xfrm>
            <a:off x="1097280" y="22402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เปิดการเชื่อมต่อ</a:t>
            </a:r>
            <a:endParaRPr lang="en-US" sz="1500" dirty="0"/>
          </a:p>
        </p:txBody>
      </p:sp>
      <p:sp>
        <p:nvSpPr>
          <p:cNvPr id="11" name="darrow0"/>
          <p:cNvSpPr/>
          <p:nvPr/>
        </p:nvSpPr>
        <p:spPr>
          <a:xfrm>
            <a:off x="3154680" y="2697480"/>
            <a:ext cx="182880" cy="137160"/>
          </a:xfrm>
          <a:prstGeom prst="downArrow">
            <a:avLst/>
          </a:prstGeom>
          <a:solidFill>
            <a:srgbClr val="D94860"/>
          </a:solidFill>
          <a:ln w="12700">
            <a:solidFill>
              <a:srgbClr val="D94860"/>
            </a:solidFill>
            <a:prstDash val="solid"/>
          </a:ln>
        </p:spPr>
      </p:sp>
      <p:sp>
        <p:nvSpPr>
          <p:cNvPr id="12" name="pill221"/>
          <p:cNvSpPr/>
          <p:nvPr/>
        </p:nvSpPr>
        <p:spPr>
          <a:xfrm>
            <a:off x="1097280" y="2843784"/>
            <a:ext cx="4297680" cy="438912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3" name="text222"/>
          <p:cNvSpPr txBox="1"/>
          <p:nvPr/>
        </p:nvSpPr>
        <p:spPr>
          <a:xfrm>
            <a:off x="1097280" y="284378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PRAGMA foreign_keys = ON</a:t>
            </a:r>
            <a:endParaRPr lang="en-US" sz="1500" dirty="0"/>
          </a:p>
        </p:txBody>
      </p:sp>
      <p:sp>
        <p:nvSpPr>
          <p:cNvPr id="14" name="darrow1"/>
          <p:cNvSpPr/>
          <p:nvPr/>
        </p:nvSpPr>
        <p:spPr>
          <a:xfrm>
            <a:off x="3154680" y="3300984"/>
            <a:ext cx="182880" cy="137160"/>
          </a:xfrm>
          <a:prstGeom prst="downArrow">
            <a:avLst/>
          </a:prstGeom>
          <a:solidFill>
            <a:srgbClr val="D94860"/>
          </a:solidFill>
          <a:ln w="12700">
            <a:solidFill>
              <a:srgbClr val="D94860"/>
            </a:solidFill>
            <a:prstDash val="solid"/>
          </a:ln>
        </p:spPr>
      </p:sp>
      <p:sp>
        <p:nvSpPr>
          <p:cNvPr id="15" name="pill223"/>
          <p:cNvSpPr/>
          <p:nvPr/>
        </p:nvSpPr>
        <p:spPr>
          <a:xfrm>
            <a:off x="1097280" y="3447288"/>
            <a:ext cx="4297680" cy="438912"/>
          </a:xfrm>
          <a:prstGeom prst="roundRect">
            <a:avLst>
              <a:gd name="adj" fmla="val 50000"/>
            </a:avLst>
          </a:prstGeom>
          <a:solidFill>
            <a:srgbClr val="FDEBF9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6" name="text224"/>
          <p:cNvSpPr txBox="1"/>
          <p:nvPr/>
        </p:nvSpPr>
        <p:spPr>
          <a:xfrm>
            <a:off x="1097280" y="344728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 SQL ด้วย ?</a:t>
            </a:r>
            <a:endParaRPr lang="en-US" sz="1500" dirty="0"/>
          </a:p>
        </p:txBody>
      </p:sp>
      <p:sp>
        <p:nvSpPr>
          <p:cNvPr id="17" name="darrow2"/>
          <p:cNvSpPr/>
          <p:nvPr/>
        </p:nvSpPr>
        <p:spPr>
          <a:xfrm>
            <a:off x="3154680" y="3904488"/>
            <a:ext cx="182880" cy="137160"/>
          </a:xfrm>
          <a:prstGeom prst="downArrow">
            <a:avLst/>
          </a:prstGeom>
          <a:solidFill>
            <a:srgbClr val="D94860"/>
          </a:solidFill>
          <a:ln w="12700">
            <a:solidFill>
              <a:srgbClr val="D94860"/>
            </a:solidFill>
            <a:prstDash val="solid"/>
          </a:ln>
        </p:spPr>
      </p:sp>
      <p:sp>
        <p:nvSpPr>
          <p:cNvPr id="18" name="pill225"/>
          <p:cNvSpPr/>
          <p:nvPr/>
        </p:nvSpPr>
        <p:spPr>
          <a:xfrm>
            <a:off x="1097280" y="4050792"/>
            <a:ext cx="4297680" cy="438912"/>
          </a:xfrm>
          <a:prstGeom prst="roundRect">
            <a:avLst>
              <a:gd name="adj" fmla="val 50000"/>
            </a:avLst>
          </a:prstGeom>
          <a:solidFill>
            <a:srgbClr val="FDEBF9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9" name="text226"/>
          <p:cNvSpPr txBox="1"/>
          <p:nvPr/>
        </p:nvSpPr>
        <p:spPr>
          <a:xfrm>
            <a:off x="1097280" y="405079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แล้วปิด (finally)</a:t>
            </a:r>
            <a:endParaRPr lang="en-US" sz="1500" dirty="0"/>
          </a:p>
        </p:txBody>
      </p:sp>
      <p:sp>
        <p:nvSpPr>
          <p:cNvPr id="20" name="text227"/>
          <p:cNvSpPr txBox="1"/>
          <p:nvPr/>
        </p:nvSpPr>
        <p:spPr>
          <a:xfrm>
            <a:off x="868680" y="4572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SQLite ปิด foreign key เป็นค่าเริ่มต้น และค่านี้ไม่ได้เก็บในไฟล์ จึงต้องสั่งทุกครั้งที่เชื่อมต่อ</a:t>
            </a:r>
            <a:endParaRPr lang="en-US" sz="1400" dirty="0"/>
          </a:p>
        </p:txBody>
      </p:sp>
      <p:sp>
        <p:nvSpPr>
          <p:cNvPr id="21" name="card228"/>
          <p:cNvSpPr/>
          <p:nvPr/>
        </p:nvSpPr>
        <p:spPr>
          <a:xfrm>
            <a:off x="6217920" y="1325880"/>
            <a:ext cx="5425135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22" name="iconbg229"/>
          <p:cNvSpPr/>
          <p:nvPr/>
        </p:nvSpPr>
        <p:spPr>
          <a:xfrm>
            <a:off x="6492240" y="1554480"/>
            <a:ext cx="594360" cy="59436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23" name="icon23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703070"/>
            <a:ext cx="297180" cy="297180"/>
          </a:xfrm>
          <a:prstGeom prst="rect">
            <a:avLst/>
          </a:prstGeom>
        </p:spPr>
      </p:pic>
      <p:sp>
        <p:nvSpPr>
          <p:cNvPr id="24" name="text231"/>
          <p:cNvSpPr txBox="1"/>
          <p:nvPr/>
        </p:nvSpPr>
        <p:spPr>
          <a:xfrm>
            <a:off x="7223760" y="1627632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ทำไมใช้ ? แทนการต่อสตริง</a:t>
            </a:r>
            <a:endParaRPr lang="en-US" sz="1900" dirty="0"/>
          </a:p>
        </p:txBody>
      </p:sp>
      <p:pic>
        <p:nvPicPr>
          <p:cNvPr id="25" name="ba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423160"/>
            <a:ext cx="292608" cy="292608"/>
          </a:xfrm>
          <a:prstGeom prst="rect">
            <a:avLst/>
          </a:prstGeom>
        </p:spPr>
      </p:pic>
      <p:sp>
        <p:nvSpPr>
          <p:cNvPr id="26" name="text232"/>
          <p:cNvSpPr txBox="1"/>
          <p:nvPr/>
        </p:nvSpPr>
        <p:spPr>
          <a:xfrm>
            <a:off x="694944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ต่อสตริง</a:t>
            </a:r>
            <a:endParaRPr lang="en-US" sz="1500" dirty="0"/>
          </a:p>
        </p:txBody>
      </p:sp>
      <p:sp>
        <p:nvSpPr>
          <p:cNvPr id="27" name="code233"/>
          <p:cNvSpPr/>
          <p:nvPr/>
        </p:nvSpPr>
        <p:spPr>
          <a:xfrm>
            <a:off x="6537960" y="2788920"/>
            <a:ext cx="4785055" cy="502920"/>
          </a:xfrm>
          <a:prstGeom prst="roundRect">
            <a:avLst>
              <a:gd name="adj" fmla="val 14545"/>
            </a:avLst>
          </a:prstGeom>
          <a:solidFill>
            <a:srgbClr val="2E2B2F"/>
          </a:solidFill>
          <a:ln w="12700">
            <a:solidFill>
              <a:srgbClr val="2E2B2F"/>
            </a:solidFill>
            <a:prstDash val="solid"/>
          </a:ln>
        </p:spPr>
      </p:sp>
      <p:sp>
        <p:nvSpPr>
          <p:cNvPr id="28" name="text234"/>
          <p:cNvSpPr txBox="1"/>
          <p:nvPr/>
        </p:nvSpPr>
        <p:spPr>
          <a:xfrm>
            <a:off x="6720840" y="2907792"/>
            <a:ext cx="446501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"... WHERE phone = '" + phone + "'"</a:t>
            </a:r>
            <a:endParaRPr lang="en-US" sz="1300" dirty="0"/>
          </a:p>
        </p:txBody>
      </p:sp>
      <p:sp>
        <p:nvSpPr>
          <p:cNvPr id="29" name="text235"/>
          <p:cNvSpPr txBox="1"/>
          <p:nvPr/>
        </p:nvSpPr>
        <p:spPr>
          <a:xfrm>
            <a:off x="6537960" y="3364992"/>
            <a:ext cx="4785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ถ้าพิมพ์  ' OR '1'='1  ลงช่องเบอร์ เงื่อนไขจริงทุกแถว (SQL injection)</a:t>
            </a:r>
            <a:endParaRPr lang="en-US" sz="1300" dirty="0"/>
          </a:p>
        </p:txBody>
      </p:sp>
      <p:pic>
        <p:nvPicPr>
          <p:cNvPr id="30" name="goo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041648"/>
            <a:ext cx="292608" cy="292608"/>
          </a:xfrm>
          <a:prstGeom prst="rect">
            <a:avLst/>
          </a:prstGeom>
        </p:spPr>
      </p:pic>
      <p:sp>
        <p:nvSpPr>
          <p:cNvPr id="31" name="text236"/>
          <p:cNvSpPr txBox="1"/>
          <p:nvPr/>
        </p:nvSpPr>
        <p:spPr>
          <a:xfrm>
            <a:off x="6949440" y="3995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7F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?</a:t>
            </a:r>
            <a:endParaRPr lang="en-US" sz="1500" dirty="0"/>
          </a:p>
        </p:txBody>
      </p:sp>
      <p:sp>
        <p:nvSpPr>
          <p:cNvPr id="32" name="code237"/>
          <p:cNvSpPr/>
          <p:nvPr/>
        </p:nvSpPr>
        <p:spPr>
          <a:xfrm>
            <a:off x="6537960" y="4407408"/>
            <a:ext cx="4785055" cy="502920"/>
          </a:xfrm>
          <a:prstGeom prst="roundRect">
            <a:avLst>
              <a:gd name="adj" fmla="val 14545"/>
            </a:avLst>
          </a:prstGeom>
          <a:solidFill>
            <a:srgbClr val="2E2B2F"/>
          </a:solidFill>
          <a:ln w="12700">
            <a:solidFill>
              <a:srgbClr val="2E2B2F"/>
            </a:solidFill>
            <a:prstDash val="solid"/>
          </a:ln>
        </p:spPr>
      </p:sp>
      <p:sp>
        <p:nvSpPr>
          <p:cNvPr id="33" name="text238"/>
          <p:cNvSpPr txBox="1"/>
          <p:nvPr/>
        </p:nvSpPr>
        <p:spPr>
          <a:xfrm>
            <a:off x="6720840" y="4526280"/>
            <a:ext cx="446501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execute("... WHERE phone = ?", (phone,))</a:t>
            </a:r>
            <a:endParaRPr lang="en-US" sz="1300" dirty="0"/>
          </a:p>
        </p:txBody>
      </p:sp>
      <p:sp>
        <p:nvSpPr>
          <p:cNvPr id="34" name="card239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35" name="text240"/>
          <p:cNvSpPr txBox="1"/>
          <p:nvPr/>
        </p:nvSpPr>
        <p:spPr>
          <a:xfrm>
            <a:off x="777240" y="553212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error_to_thai(): </a:t>
            </a:r>
            <a:pPr indent="0" marL="0">
              <a:buNone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UNIQUE constraint failed: appointments.schedule_id  ›  "ช่องเวลานี้มีผู้ป่วยจองไปแล้ว กรุณาเลือกช่องเวลาอื่น"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2 · ลงทะเบียนผู้ป่วย และดูประวัติการรักษา</a:t>
            </a:r>
            <a:endParaRPr lang="en-US" sz="3000" dirty="0"/>
          </a:p>
        </p:txBody>
      </p:sp>
      <p:sp>
        <p:nvSpPr>
          <p:cNvPr id="3" name="speakerPill241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242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600" dirty="0"/>
          </a:p>
        </p:txBody>
      </p:sp>
      <p:sp>
        <p:nvSpPr>
          <p:cNvPr id="5" name="shotframe243"/>
          <p:cNvSpPr/>
          <p:nvPr/>
        </p:nvSpPr>
        <p:spPr>
          <a:xfrm>
            <a:off x="521208" y="1252728"/>
            <a:ext cx="6729984" cy="4609937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244" descr="shots/c1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675120" cy="4555073"/>
          </a:xfrm>
          <a:prstGeom prst="rect">
            <a:avLst/>
          </a:prstGeom>
        </p:spPr>
      </p:pic>
      <p:sp>
        <p:nvSpPr>
          <p:cNvPr id="7" name="text245"/>
          <p:cNvSpPr txBox="1"/>
          <p:nvPr/>
        </p:nvSpPr>
        <p:spPr>
          <a:xfrm>
            <a:off x="548640" y="5908385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ภาพจริง: คลิก อำนาจ จันทร์เพ็ญ แล้วเห็นประวัติ 3 ครั้ง</a:t>
            </a:r>
            <a:endParaRPr lang="en-US" sz="1100" dirty="0"/>
          </a:p>
        </p:txBody>
      </p:sp>
      <p:sp>
        <p:nvSpPr>
          <p:cNvPr id="8" name="text246"/>
          <p:cNvSpPr txBox="1"/>
          <p:nvPr/>
        </p:nvSpPr>
        <p:spPr>
          <a:xfrm>
            <a:off x="7543800" y="1280160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ลงทะเบียน</a:t>
            </a:r>
            <a:endParaRPr lang="en-US" sz="1700" dirty="0"/>
          </a:p>
        </p:txBody>
      </p:sp>
      <p:sp>
        <p:nvSpPr>
          <p:cNvPr id="9" name="pill247"/>
          <p:cNvSpPr/>
          <p:nvPr/>
        </p:nvSpPr>
        <p:spPr>
          <a:xfrm>
            <a:off x="7543800" y="1719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0" name="text248"/>
          <p:cNvSpPr txBox="1"/>
          <p:nvPr/>
        </p:nvSpPr>
        <p:spPr>
          <a:xfrm>
            <a:off x="75438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249"/>
          <p:cNvSpPr txBox="1"/>
          <p:nvPr/>
        </p:nvSpPr>
        <p:spPr>
          <a:xfrm>
            <a:off x="8046720" y="1691640"/>
            <a:ext cx="3596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read_form()  </a:t>
            </a:r>
            <a:pPr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ตัดขีดออกจากเบอร์ 089-123-4567 › 0891234567</a:t>
            </a:r>
            <a:endParaRPr lang="en-US" sz="1300" dirty="0"/>
          </a:p>
        </p:txBody>
      </p:sp>
      <p:sp>
        <p:nvSpPr>
          <p:cNvPr id="12" name="pill250"/>
          <p:cNvSpPr/>
          <p:nvPr/>
        </p:nvSpPr>
        <p:spPr>
          <a:xfrm>
            <a:off x="7543800" y="24323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3" name="text251"/>
          <p:cNvSpPr txBox="1"/>
          <p:nvPr/>
        </p:nvSpPr>
        <p:spPr>
          <a:xfrm>
            <a:off x="754380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252"/>
          <p:cNvSpPr txBox="1"/>
          <p:nvPr/>
        </p:nvSpPr>
        <p:spPr>
          <a:xfrm>
            <a:off x="8046720" y="2404872"/>
            <a:ext cx="3596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check_form()  </a:t>
            </a:r>
            <a:pPr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ช่องว่าง · เบอร์ 10 หลักขึ้นต้น 0 · วันเกิดเป็นวันที่จริง ไม่ใช่อนาคต</a:t>
            </a:r>
            <a:endParaRPr lang="en-US" sz="1300" dirty="0"/>
          </a:p>
        </p:txBody>
      </p:sp>
      <p:sp>
        <p:nvSpPr>
          <p:cNvPr id="15" name="pill253"/>
          <p:cNvSpPr/>
          <p:nvPr/>
        </p:nvSpPr>
        <p:spPr>
          <a:xfrm>
            <a:off x="7543800" y="31455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6" name="text254"/>
          <p:cNvSpPr txBox="1"/>
          <p:nvPr/>
        </p:nvSpPr>
        <p:spPr>
          <a:xfrm>
            <a:off x="754380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255"/>
          <p:cNvSpPr txBox="1"/>
          <p:nvPr/>
        </p:nvSpPr>
        <p:spPr>
          <a:xfrm>
            <a:off x="8046720" y="3118104"/>
            <a:ext cx="3596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เช็กเบอร์ซ้ำ  </a:t>
            </a:r>
            <a:pPr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SELECT ก่อน ถ้าซ้ำบอกว่าเป็นเบอร์ของใคร</a:t>
            </a:r>
            <a:endParaRPr lang="en-US" sz="1300" dirty="0"/>
          </a:p>
        </p:txBody>
      </p:sp>
      <p:sp>
        <p:nvSpPr>
          <p:cNvPr id="18" name="pill256"/>
          <p:cNvSpPr/>
          <p:nvPr/>
        </p:nvSpPr>
        <p:spPr>
          <a:xfrm>
            <a:off x="7543800" y="38587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9" name="text257"/>
          <p:cNvSpPr txBox="1"/>
          <p:nvPr/>
        </p:nvSpPr>
        <p:spPr>
          <a:xfrm>
            <a:off x="754380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258"/>
          <p:cNvSpPr txBox="1"/>
          <p:nvPr/>
        </p:nvSpPr>
        <p:spPr>
          <a:xfrm>
            <a:off x="8046720" y="3831336"/>
            <a:ext cx="3596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INSERT  </a:t>
            </a:r>
            <a:pPr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ได้รหัสผู้ป่วยใหม่ 16</a:t>
            </a:r>
            <a:endParaRPr lang="en-US" sz="1300" dirty="0"/>
          </a:p>
        </p:txBody>
      </p:sp>
      <p:sp>
        <p:nvSpPr>
          <p:cNvPr id="21" name="card259"/>
          <p:cNvSpPr/>
          <p:nvPr/>
        </p:nvSpPr>
        <p:spPr>
          <a:xfrm>
            <a:off x="7543800" y="4572000"/>
            <a:ext cx="4099255" cy="713232"/>
          </a:xfrm>
          <a:prstGeom prst="roundRect">
            <a:avLst>
              <a:gd name="adj" fmla="val 15385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22" name="text260"/>
          <p:cNvSpPr txBox="1"/>
          <p:nvPr/>
        </p:nvSpPr>
        <p:spPr>
          <a:xfrm>
            <a:off x="7680960" y="4572000"/>
            <a:ext cx="38249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วันเกิด: </a:t>
            </a:r>
            <a:pPr indent="0" marL="0">
              <a:buNone/>
            </a:pPr>
            <a:r>
              <a:rPr lang="en-US" sz="13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เลือกจากปฏิทิน tkcalendar หรือพิมพ์ YYYY-MM-DD เอง</a:t>
            </a:r>
            <a:endParaRPr lang="en-US" sz="1300" dirty="0"/>
          </a:p>
        </p:txBody>
      </p:sp>
      <p:sp>
        <p:nvSpPr>
          <p:cNvPr id="23" name="card261"/>
          <p:cNvSpPr/>
          <p:nvPr/>
        </p:nvSpPr>
        <p:spPr>
          <a:xfrm>
            <a:off x="7543800" y="5394960"/>
            <a:ext cx="4099255" cy="822960"/>
          </a:xfrm>
          <a:prstGeom prst="roundRect">
            <a:avLst>
              <a:gd name="adj" fmla="val 13333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24" name="text262"/>
          <p:cNvSpPr txBox="1"/>
          <p:nvPr/>
        </p:nvSpPr>
        <p:spPr>
          <a:xfrm>
            <a:off x="7680960" y="5394960"/>
            <a:ext cx="3824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ประวัติการรักษา: </a:t>
            </a:r>
            <a:pPr indent="0" marL="0">
              <a:buNone/>
            </a:pPr>
            <a:r>
              <a:rPr lang="en-US" sz="13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คลิกชื่อ › SELECT จาก treatments JOIN คิว ช่องเวลา แพทย์ แผนก เรียงล่าสุดก่อน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 · จองคิว</a:t>
            </a:r>
            <a:endParaRPr lang="en-US" sz="3000" dirty="0"/>
          </a:p>
        </p:txBody>
      </p:sp>
      <p:sp>
        <p:nvSpPr>
          <p:cNvPr id="3" name="speakerPill263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264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600" dirty="0"/>
          </a:p>
        </p:txBody>
      </p:sp>
      <p:sp>
        <p:nvSpPr>
          <p:cNvPr id="5" name="card265"/>
          <p:cNvSpPr/>
          <p:nvPr/>
        </p:nvSpPr>
        <p:spPr>
          <a:xfrm>
            <a:off x="548640" y="1298448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6" name="text266"/>
          <p:cNvSpPr txBox="1"/>
          <p:nvPr/>
        </p:nvSpPr>
        <p:spPr>
          <a:xfrm>
            <a:off x="731520" y="1353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</a:t>
            </a:r>
            <a:endParaRPr lang="en-US" sz="1300" dirty="0"/>
          </a:p>
        </p:txBody>
      </p:sp>
      <p:sp>
        <p:nvSpPr>
          <p:cNvPr id="7" name="text267"/>
          <p:cNvSpPr txBox="1"/>
          <p:nvPr/>
        </p:nvSpPr>
        <p:spPr>
          <a:xfrm>
            <a:off x="731520" y="16733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อายุรกรรม</a:t>
            </a:r>
            <a:endParaRPr lang="en-US" sz="1600" dirty="0"/>
          </a:p>
        </p:txBody>
      </p:sp>
      <p:sp>
        <p:nvSpPr>
          <p:cNvPr id="8" name="arrow268"/>
          <p:cNvSpPr/>
          <p:nvPr/>
        </p:nvSpPr>
        <p:spPr>
          <a:xfrm>
            <a:off x="3117037" y="1591056"/>
            <a:ext cx="237744" cy="274320"/>
          </a:xfrm>
          <a:prstGeom prst="rightArrow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9" name="card269"/>
          <p:cNvSpPr/>
          <p:nvPr/>
        </p:nvSpPr>
        <p:spPr>
          <a:xfrm>
            <a:off x="3408578" y="1298448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10" name="text270"/>
          <p:cNvSpPr txBox="1"/>
          <p:nvPr/>
        </p:nvSpPr>
        <p:spPr>
          <a:xfrm>
            <a:off x="3591458" y="1353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แพทย์</a:t>
            </a:r>
            <a:endParaRPr lang="en-US" sz="1300" dirty="0"/>
          </a:p>
        </p:txBody>
      </p:sp>
      <p:sp>
        <p:nvSpPr>
          <p:cNvPr id="11" name="text271"/>
          <p:cNvSpPr txBox="1"/>
          <p:nvPr/>
        </p:nvSpPr>
        <p:spPr>
          <a:xfrm>
            <a:off x="3591458" y="16733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พญ.กมลวรรณ ทองดี</a:t>
            </a:r>
            <a:endParaRPr lang="en-US" sz="1600" dirty="0"/>
          </a:p>
        </p:txBody>
      </p:sp>
      <p:sp>
        <p:nvSpPr>
          <p:cNvPr id="12" name="arrow272"/>
          <p:cNvSpPr/>
          <p:nvPr/>
        </p:nvSpPr>
        <p:spPr>
          <a:xfrm>
            <a:off x="5976976" y="1591056"/>
            <a:ext cx="237744" cy="274320"/>
          </a:xfrm>
          <a:prstGeom prst="rightArrow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3" name="card273"/>
          <p:cNvSpPr/>
          <p:nvPr/>
        </p:nvSpPr>
        <p:spPr>
          <a:xfrm>
            <a:off x="6268517" y="1298448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14" name="text274"/>
          <p:cNvSpPr txBox="1"/>
          <p:nvPr/>
        </p:nvSpPr>
        <p:spPr>
          <a:xfrm>
            <a:off x="6451397" y="1353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</a:t>
            </a:r>
            <a:endParaRPr lang="en-US" sz="1300" dirty="0"/>
          </a:p>
        </p:txBody>
      </p:sp>
      <p:sp>
        <p:nvSpPr>
          <p:cNvPr id="15" name="text275"/>
          <p:cNvSpPr txBox="1"/>
          <p:nvPr/>
        </p:nvSpPr>
        <p:spPr>
          <a:xfrm>
            <a:off x="6451397" y="16733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พรุ่งนี้</a:t>
            </a:r>
            <a:endParaRPr lang="en-US" sz="1600" dirty="0"/>
          </a:p>
        </p:txBody>
      </p:sp>
      <p:sp>
        <p:nvSpPr>
          <p:cNvPr id="16" name="arrow276"/>
          <p:cNvSpPr/>
          <p:nvPr/>
        </p:nvSpPr>
        <p:spPr>
          <a:xfrm>
            <a:off x="8836914" y="1591056"/>
            <a:ext cx="237744" cy="274320"/>
          </a:xfrm>
          <a:prstGeom prst="rightArrow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7" name="card277"/>
          <p:cNvSpPr/>
          <p:nvPr/>
        </p:nvSpPr>
        <p:spPr>
          <a:xfrm>
            <a:off x="9128455" y="1298448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DEBF9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18" name="text278"/>
          <p:cNvSpPr txBox="1"/>
          <p:nvPr/>
        </p:nvSpPr>
        <p:spPr>
          <a:xfrm>
            <a:off x="9311335" y="1353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ช่องเวลา</a:t>
            </a:r>
            <a:endParaRPr lang="en-US" sz="1300" dirty="0"/>
          </a:p>
        </p:txBody>
      </p:sp>
      <p:sp>
        <p:nvSpPr>
          <p:cNvPr id="19" name="text279"/>
          <p:cNvSpPr txBox="1"/>
          <p:nvPr/>
        </p:nvSpPr>
        <p:spPr>
          <a:xfrm>
            <a:off x="9311335" y="16733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10:00 - 10:30</a:t>
            </a:r>
            <a:endParaRPr lang="en-US" sz="1600" dirty="0"/>
          </a:p>
        </p:txBody>
      </p:sp>
      <p:sp>
        <p:nvSpPr>
          <p:cNvPr id="20" name="card280"/>
          <p:cNvSpPr/>
          <p:nvPr/>
        </p:nvSpPr>
        <p:spPr>
          <a:xfrm>
            <a:off x="548640" y="2423160"/>
            <a:ext cx="57150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21" name="text281"/>
          <p:cNvSpPr txBox="1"/>
          <p:nvPr/>
        </p:nvSpPr>
        <p:spPr>
          <a:xfrm>
            <a:off x="822960" y="25603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ช่องว่าง = LEFT JOIN แล้วจับคู่คิวที่ยังไม่ยกเลิกไม่ได้</a:t>
            </a:r>
            <a:endParaRPr lang="en-US" sz="1600" dirty="0"/>
          </a:p>
        </p:txBody>
      </p:sp>
      <p:graphicFrame>
        <p:nvGraphicFramePr>
          <p:cNvPr id="13" name="slo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063240"/>
          <a:ext cx="51663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18288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เวลา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82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คิวในช่อง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82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ใน Combobox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82C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09:00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คิว 14 จองแล้ว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ไม่แสดง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09:30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คิว 17 ยกเลิก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แสดง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10:00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แสดง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10:30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3A4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แสดง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C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282"/>
          <p:cNvSpPr txBox="1"/>
          <p:nvPr/>
        </p:nvSpPr>
        <p:spPr>
          <a:xfrm>
            <a:off x="822960" y="5440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ข้อมูลจริง: พญ.กมลวรรณ วันพรุ่งนี้ · ถ้าเป็นวันนี้แสดงเฉพาะช่องที่ยังไม่ถึงเวลา</a:t>
            </a:r>
            <a:endParaRPr lang="en-US" sz="1300" dirty="0"/>
          </a:p>
        </p:txBody>
      </p:sp>
      <p:sp>
        <p:nvSpPr>
          <p:cNvPr id="24" name="card283"/>
          <p:cNvSpPr/>
          <p:nvPr/>
        </p:nvSpPr>
        <p:spPr>
          <a:xfrm>
            <a:off x="6537960" y="2423160"/>
            <a:ext cx="5105095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25" name="text284"/>
          <p:cNvSpPr txBox="1"/>
          <p:nvPr/>
        </p:nvSpPr>
        <p:spPr>
          <a:xfrm>
            <a:off x="6812280" y="2560320"/>
            <a:ext cx="4556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ตรวจซ้ำก่อนบันทึก</a:t>
            </a:r>
            <a:endParaRPr lang="en-US" sz="1600" dirty="0"/>
          </a:p>
        </p:txBody>
      </p:sp>
      <p:pic>
        <p:nvPicPr>
          <p:cNvPr id="26" name="chk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3127248"/>
            <a:ext cx="274320" cy="274320"/>
          </a:xfrm>
          <a:prstGeom prst="rect">
            <a:avLst/>
          </a:prstGeom>
        </p:spPr>
      </p:pic>
      <p:sp>
        <p:nvSpPr>
          <p:cNvPr id="27" name="text285"/>
          <p:cNvSpPr txBox="1"/>
          <p:nvPr/>
        </p:nvSpPr>
        <p:spPr>
          <a:xfrm>
            <a:off x="7223760" y="3072384"/>
            <a:ext cx="4190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เลือกครบทุกช่อง</a:t>
            </a:r>
            <a:endParaRPr lang="en-US" sz="1500" dirty="0"/>
          </a:p>
        </p:txBody>
      </p:sp>
      <p:pic>
        <p:nvPicPr>
          <p:cNvPr id="28" name="chk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584448"/>
            <a:ext cx="274320" cy="274320"/>
          </a:xfrm>
          <a:prstGeom prst="rect">
            <a:avLst/>
          </a:prstGeom>
        </p:spPr>
      </p:pic>
      <p:sp>
        <p:nvSpPr>
          <p:cNvPr id="29" name="text286"/>
          <p:cNvSpPr txBox="1"/>
          <p:nvPr/>
        </p:nvSpPr>
        <p:spPr>
          <a:xfrm>
            <a:off x="7223760" y="3529584"/>
            <a:ext cx="4190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ช่องที่เลือกยังไม่เลยเวลา</a:t>
            </a:r>
            <a:endParaRPr lang="en-US" sz="1500" dirty="0"/>
          </a:p>
        </p:txBody>
      </p:sp>
      <p:pic>
        <p:nvPicPr>
          <p:cNvPr id="30" name="chk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041648"/>
            <a:ext cx="274320" cy="274320"/>
          </a:xfrm>
          <a:prstGeom prst="rect">
            <a:avLst/>
          </a:prstGeom>
        </p:spPr>
      </p:pic>
      <p:sp>
        <p:nvSpPr>
          <p:cNvPr id="31" name="text287"/>
          <p:cNvSpPr txBox="1"/>
          <p:nvPr/>
        </p:nvSpPr>
        <p:spPr>
          <a:xfrm>
            <a:off x="7223760" y="3986784"/>
            <a:ext cx="4190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ช่องยังว่าง (นับคิวซ้ำ)</a:t>
            </a:r>
            <a:endParaRPr lang="en-US" sz="1500" dirty="0"/>
          </a:p>
        </p:txBody>
      </p:sp>
      <p:pic>
        <p:nvPicPr>
          <p:cNvPr id="32" name="chk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498848"/>
            <a:ext cx="274320" cy="274320"/>
          </a:xfrm>
          <a:prstGeom prst="rect">
            <a:avLst/>
          </a:prstGeom>
        </p:spPr>
      </p:pic>
      <p:sp>
        <p:nvSpPr>
          <p:cNvPr id="33" name="text288"/>
          <p:cNvSpPr txBox="1"/>
          <p:nvPr/>
        </p:nvSpPr>
        <p:spPr>
          <a:xfrm>
            <a:off x="7223760" y="4443984"/>
            <a:ext cx="4190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ผู้ป่วยไม่มีคิวซ้อนเวลาเดียวกัน</a:t>
            </a:r>
            <a:endParaRPr lang="en-US" sz="1500" dirty="0"/>
          </a:p>
        </p:txBody>
      </p:sp>
      <p:pic>
        <p:nvPicPr>
          <p:cNvPr id="34" name="chk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4956048"/>
            <a:ext cx="274320" cy="274320"/>
          </a:xfrm>
          <a:prstGeom prst="rect">
            <a:avLst/>
          </a:prstGeom>
        </p:spPr>
      </p:pic>
      <p:sp>
        <p:nvSpPr>
          <p:cNvPr id="35" name="text289"/>
          <p:cNvSpPr txBox="1"/>
          <p:nvPr/>
        </p:nvSpPr>
        <p:spPr>
          <a:xfrm>
            <a:off x="7223760" y="4901184"/>
            <a:ext cx="4190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ถามยืนยัน แล้ว INSERT</a:t>
            </a:r>
            <a:endParaRPr lang="en-US" sz="1500" dirty="0"/>
          </a:p>
        </p:txBody>
      </p:sp>
      <p:sp>
        <p:nvSpPr>
          <p:cNvPr id="36" name="pill290"/>
          <p:cNvSpPr/>
          <p:nvPr/>
        </p:nvSpPr>
        <p:spPr>
          <a:xfrm>
            <a:off x="6812280" y="5486400"/>
            <a:ext cx="4556455" cy="45720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37" name="text291"/>
          <p:cNvSpPr txBox="1"/>
          <p:nvPr/>
        </p:nvSpPr>
        <p:spPr>
          <a:xfrm>
            <a:off x="6812280" y="5486400"/>
            <a:ext cx="4556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จองคิวสำเร็จ · หมายเลขคิว 31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 สด · ผู้ป่วยและจองคิว</a:t>
            </a:r>
            <a:endParaRPr lang="en-US" sz="3000" dirty="0"/>
          </a:p>
        </p:txBody>
      </p:sp>
      <p:sp>
        <p:nvSpPr>
          <p:cNvPr id="3" name="speakerPill292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585358"/>
          </a:solidFill>
          <a:ln w="12700">
            <a:solidFill>
              <a:srgbClr val="585358"/>
            </a:solidFill>
            <a:prstDash val="solid"/>
          </a:ln>
        </p:spPr>
      </p:sp>
      <p:sp>
        <p:nvSpPr>
          <p:cNvPr id="4" name="text293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600" dirty="0"/>
          </a:p>
        </p:txBody>
      </p:sp>
      <p:sp>
        <p:nvSpPr>
          <p:cNvPr id="5" name="pill294"/>
          <p:cNvSpPr/>
          <p:nvPr/>
        </p:nvSpPr>
        <p:spPr>
          <a:xfrm>
            <a:off x="548640" y="138074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6" name="text295"/>
          <p:cNvSpPr txBox="1"/>
          <p:nvPr/>
        </p:nvSpPr>
        <p:spPr>
          <a:xfrm>
            <a:off x="548640" y="1380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296"/>
          <p:cNvSpPr txBox="1"/>
          <p:nvPr/>
        </p:nvSpPr>
        <p:spPr>
          <a:xfrm>
            <a:off x="1280160" y="13258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ลงทะเบียนด้วยเบอร์ที่มีคนใช้แล้ว</a:t>
            </a:r>
            <a:endParaRPr lang="en-US" sz="1900" dirty="0"/>
          </a:p>
        </p:txBody>
      </p:sp>
      <p:sp>
        <p:nvSpPr>
          <p:cNvPr id="8" name="text297"/>
          <p:cNvSpPr txBox="1"/>
          <p:nvPr/>
        </p:nvSpPr>
        <p:spPr>
          <a:xfrm>
            <a:off x="1280160" y="17373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ระบบเตือนว่าเป็นเบอร์ของ สมหญิง ใจดี</a:t>
            </a:r>
            <a:endParaRPr lang="en-US" sz="1500" dirty="0"/>
          </a:p>
        </p:txBody>
      </p:sp>
      <p:sp>
        <p:nvSpPr>
          <p:cNvPr id="9" name="pill298"/>
          <p:cNvSpPr/>
          <p:nvPr/>
        </p:nvSpPr>
        <p:spPr>
          <a:xfrm>
            <a:off x="548640" y="2331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0" name="text299"/>
          <p:cNvSpPr txBox="1"/>
          <p:nvPr/>
        </p:nvSpPr>
        <p:spPr>
          <a:xfrm>
            <a:off x="548640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300"/>
          <p:cNvSpPr txBox="1"/>
          <p:nvPr/>
        </p:nvSpPr>
        <p:spPr>
          <a:xfrm>
            <a:off x="1280160" y="227685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ลงทะเบียน ชไมพร ใจกว้าง · เลือกวันเกิดจากปฏิทิน</a:t>
            </a:r>
            <a:endParaRPr lang="en-US" sz="1900" dirty="0"/>
          </a:p>
        </p:txBody>
      </p:sp>
      <p:sp>
        <p:nvSpPr>
          <p:cNvPr id="12" name="text301"/>
          <p:cNvSpPr txBox="1"/>
          <p:nvPr/>
        </p:nvSpPr>
        <p:spPr>
          <a:xfrm>
            <a:off x="1280160" y="2688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ได้รหัสผู้ป่วย 16</a:t>
            </a:r>
            <a:endParaRPr lang="en-US" sz="1500" dirty="0"/>
          </a:p>
        </p:txBody>
      </p:sp>
      <p:sp>
        <p:nvSpPr>
          <p:cNvPr id="13" name="pill302"/>
          <p:cNvSpPr/>
          <p:nvPr/>
        </p:nvSpPr>
        <p:spPr>
          <a:xfrm>
            <a:off x="548640" y="328269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4" name="text303"/>
          <p:cNvSpPr txBox="1"/>
          <p:nvPr/>
        </p:nvSpPr>
        <p:spPr>
          <a:xfrm>
            <a:off x="54864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304"/>
          <p:cNvSpPr txBox="1"/>
          <p:nvPr/>
        </p:nvSpPr>
        <p:spPr>
          <a:xfrm>
            <a:off x="1280160" y="322783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 อำนาจ จันทร์เพ็ญ ในตารางผู้ป่วย</a:t>
            </a:r>
            <a:endParaRPr lang="en-US" sz="1900" dirty="0"/>
          </a:p>
        </p:txBody>
      </p:sp>
      <p:sp>
        <p:nvSpPr>
          <p:cNvPr id="16" name="text305"/>
          <p:cNvSpPr txBox="1"/>
          <p:nvPr/>
        </p:nvSpPr>
        <p:spPr>
          <a:xfrm>
            <a:off x="1280160" y="363931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เห็นประวัติการรักษา 3 ครั้ง เรียงจากล่าสุด</a:t>
            </a:r>
            <a:endParaRPr lang="en-US" sz="1500" dirty="0"/>
          </a:p>
        </p:txBody>
      </p:sp>
      <p:sp>
        <p:nvSpPr>
          <p:cNvPr id="17" name="pill306"/>
          <p:cNvSpPr/>
          <p:nvPr/>
        </p:nvSpPr>
        <p:spPr>
          <a:xfrm>
            <a:off x="548640" y="423367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8" name="text307"/>
          <p:cNvSpPr txBox="1"/>
          <p:nvPr/>
        </p:nvSpPr>
        <p:spPr>
          <a:xfrm>
            <a:off x="548640" y="4233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308"/>
          <p:cNvSpPr txBox="1"/>
          <p:nvPr/>
        </p:nvSpPr>
        <p:spPr>
          <a:xfrm>
            <a:off x="1280160" y="417880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จองกับ พญ.กมลวรรณ ทองดี พรุ่งนี้ 10:00</a:t>
            </a:r>
            <a:endParaRPr lang="en-US" sz="1900" dirty="0"/>
          </a:p>
        </p:txBody>
      </p:sp>
      <p:sp>
        <p:nvSpPr>
          <p:cNvPr id="20" name="text309"/>
          <p:cNvSpPr txBox="1"/>
          <p:nvPr/>
        </p:nvSpPr>
        <p:spPr>
          <a:xfrm>
            <a:off x="1280160" y="459028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ได้หมายเลขคิว 31</a:t>
            </a:r>
            <a:endParaRPr lang="en-US" sz="1500" dirty="0"/>
          </a:p>
        </p:txBody>
      </p:sp>
      <p:sp>
        <p:nvSpPr>
          <p:cNvPr id="21" name="pill310"/>
          <p:cNvSpPr/>
          <p:nvPr/>
        </p:nvSpPr>
        <p:spPr>
          <a:xfrm>
            <a:off x="548640" y="51846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22" name="text311"/>
          <p:cNvSpPr txBox="1"/>
          <p:nvPr/>
        </p:nvSpPr>
        <p:spPr>
          <a:xfrm>
            <a:off x="548640" y="5184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312"/>
          <p:cNvSpPr txBox="1"/>
          <p:nvPr/>
        </p:nvSpPr>
        <p:spPr>
          <a:xfrm>
            <a:off x="1280160" y="512978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ลองจองซ้อนเวลาเดียวกันกับ พญ.ปิยะนุช</a:t>
            </a:r>
            <a:endParaRPr lang="en-US" sz="1900" dirty="0"/>
          </a:p>
        </p:txBody>
      </p:sp>
      <p:sp>
        <p:nvSpPr>
          <p:cNvPr id="24" name="text313"/>
          <p:cNvSpPr txBox="1"/>
          <p:nvPr/>
        </p:nvSpPr>
        <p:spPr>
          <a:xfrm>
            <a:off x="1280160" y="554126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ระบบเตือน "คิวซ้อนกัน"</a:t>
            </a:r>
            <a:endParaRPr lang="en-US" sz="1500" dirty="0"/>
          </a:p>
        </p:txBody>
      </p:sp>
      <p:sp>
        <p:nvSpPr>
          <p:cNvPr id="25" name="demoInfo"/>
          <p:cNvSpPr/>
          <p:nvPr/>
        </p:nvSpPr>
        <p:spPr>
          <a:xfrm>
            <a:off x="8229600" y="1325880"/>
            <a:ext cx="3410712" cy="4572000"/>
          </a:xfrm>
          <a:prstGeom prst="roundRect">
            <a:avLst>
              <a:gd name="adj" fmla="val 3217"/>
            </a:avLst>
          </a:prstGeom>
          <a:solidFill>
            <a:srgbClr val="585358"/>
          </a:solidFill>
          <a:ln w="12700">
            <a:solidFill>
              <a:srgbClr val="585358"/>
            </a:solidFill>
            <a:prstDash val="solid"/>
          </a:ln>
        </p:spPr>
      </p:sp>
      <p:sp>
        <p:nvSpPr>
          <p:cNvPr id="26" name="iconbg314"/>
          <p:cNvSpPr/>
          <p:nvPr/>
        </p:nvSpPr>
        <p:spPr>
          <a:xfrm>
            <a:off x="8549640" y="1600200"/>
            <a:ext cx="731520" cy="73152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27" name="icon3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783080"/>
            <a:ext cx="365760" cy="365760"/>
          </a:xfrm>
          <a:prstGeom prst="rect">
            <a:avLst/>
          </a:prstGeom>
        </p:spPr>
      </p:pic>
      <p:sp>
        <p:nvSpPr>
          <p:cNvPr id="28" name="text316"/>
          <p:cNvSpPr txBox="1"/>
          <p:nvPr/>
        </p:nvSpPr>
        <p:spPr>
          <a:xfrm>
            <a:off x="850392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พูด: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คุมเครื่อง: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700" dirty="0"/>
          </a:p>
        </p:txBody>
      </p:sp>
      <p:sp>
        <p:nvSpPr>
          <p:cNvPr id="29" name="text317"/>
          <p:cNvSpPr txBox="1"/>
          <p:nvPr/>
        </p:nvSpPr>
        <p:spPr>
          <a:xfrm>
            <a:off x="8549640" y="35661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จองวันพรุ่งนี้ เพราะช่องของวันนี้ที่เลยเวลาแล้วจะไม่แสดง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รีเซ็ตข้อมูลด้วย python create_db.py ก่อนขึ้นนำเสนอ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DEBF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4 · ค้นหาคิว</a:t>
            </a:r>
            <a:endParaRPr lang="en-US" sz="3000" dirty="0"/>
          </a:p>
        </p:txBody>
      </p:sp>
      <p:sp>
        <p:nvSpPr>
          <p:cNvPr id="3" name="speakerPill318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319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600" dirty="0"/>
          </a:p>
        </p:txBody>
      </p:sp>
      <p:sp>
        <p:nvSpPr>
          <p:cNvPr id="5" name="shotframe320"/>
          <p:cNvSpPr/>
          <p:nvPr/>
        </p:nvSpPr>
        <p:spPr>
          <a:xfrm>
            <a:off x="770586" y="1252728"/>
            <a:ext cx="10650523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321" descr="shots/search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18" y="1280160"/>
            <a:ext cx="10595659" cy="2240280"/>
          </a:xfrm>
          <a:prstGeom prst="rect">
            <a:avLst/>
          </a:prstGeom>
        </p:spPr>
      </p:pic>
      <p:sp>
        <p:nvSpPr>
          <p:cNvPr id="7" name="text322"/>
          <p:cNvSpPr txBox="1"/>
          <p:nvPr/>
        </p:nvSpPr>
        <p:spPr>
          <a:xfrm>
            <a:off x="548640" y="3593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ภาพจริง: ค้นชื่อ "ชไมพร" หลัง C1 จองคิว 31</a:t>
            </a:r>
            <a:endParaRPr lang="en-US" sz="1100" dirty="0"/>
          </a:p>
        </p:txBody>
      </p:sp>
      <p:sp>
        <p:nvSpPr>
          <p:cNvPr id="8" name="text323"/>
          <p:cNvSpPr txBox="1"/>
          <p:nvPr/>
        </p:nvSpPr>
        <p:spPr>
          <a:xfrm>
            <a:off x="548640" y="39776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คำสั่ง SQL คำสั่งเดียว รองรับทุกแบบการค้น</a:t>
            </a:r>
            <a:endParaRPr lang="en-US" sz="1600" dirty="0"/>
          </a:p>
        </p:txBody>
      </p:sp>
      <p:sp>
        <p:nvSpPr>
          <p:cNvPr id="9" name="code324"/>
          <p:cNvSpPr/>
          <p:nvPr/>
        </p:nvSpPr>
        <p:spPr>
          <a:xfrm>
            <a:off x="548640" y="4407408"/>
            <a:ext cx="6035040" cy="1280160"/>
          </a:xfrm>
          <a:prstGeom prst="roundRect">
            <a:avLst>
              <a:gd name="adj" fmla="val 5714"/>
            </a:avLst>
          </a:prstGeom>
          <a:solidFill>
            <a:srgbClr val="2E2B2F"/>
          </a:solidFill>
          <a:ln w="12700">
            <a:solidFill>
              <a:srgbClr val="2E2B2F"/>
            </a:solidFill>
            <a:prstDash val="solid"/>
          </a:ln>
        </p:spPr>
      </p:sp>
      <p:sp>
        <p:nvSpPr>
          <p:cNvPr id="10" name="text325"/>
          <p:cNvSpPr txBox="1"/>
          <p:nvPr/>
        </p:nvSpPr>
        <p:spPr>
          <a:xfrm>
            <a:off x="731520" y="4526280"/>
            <a:ext cx="5715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 (? = '' OR p.patient_name LIKE ?)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AND (? = '' OR p.phone = ?)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AND (? = '' OR s.work_date = ?)</a:t>
            </a:r>
            <a:endParaRPr lang="en-US" sz="1500" dirty="0"/>
          </a:p>
        </p:txBody>
      </p:sp>
      <p:pic>
        <p:nvPicPr>
          <p:cNvPr id="11" name="sq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023360"/>
            <a:ext cx="256032" cy="256032"/>
          </a:xfrm>
          <a:prstGeom prst="rect">
            <a:avLst/>
          </a:prstGeom>
        </p:spPr>
      </p:pic>
      <p:sp>
        <p:nvSpPr>
          <p:cNvPr id="12" name="text326"/>
          <p:cNvSpPr txBox="1"/>
          <p:nvPr/>
        </p:nvSpPr>
        <p:spPr>
          <a:xfrm>
            <a:off x="7242048" y="3977640"/>
            <a:ext cx="44010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ช่องว่าง  </a:t>
            </a:r>
            <a:pPr indent="0" marL="0">
              <a:buNone/>
            </a:pPr>
            <a:r>
              <a:rPr lang="en-US" sz="14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 ? = '' เป็นจริง เงื่อนไขนั้นจึงไม่มีผล</a:t>
            </a:r>
            <a:endParaRPr lang="en-US" sz="1400" dirty="0"/>
          </a:p>
        </p:txBody>
      </p:sp>
      <p:pic>
        <p:nvPicPr>
          <p:cNvPr id="13" name="sq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645152"/>
            <a:ext cx="256032" cy="256032"/>
          </a:xfrm>
          <a:prstGeom prst="rect">
            <a:avLst/>
          </a:prstGeom>
        </p:spPr>
      </p:pic>
      <p:sp>
        <p:nvSpPr>
          <p:cNvPr id="14" name="text327"/>
          <p:cNvSpPr txBox="1"/>
          <p:nvPr/>
        </p:nvSpPr>
        <p:spPr>
          <a:xfrm>
            <a:off x="7242048" y="4599432"/>
            <a:ext cx="44010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กรอกหลายช่อง  </a:t>
            </a:r>
            <a:pPr indent="0" marL="0">
              <a:buNone/>
            </a:pPr>
            <a:r>
              <a:rPr lang="en-US" sz="14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ต้องตรงทุกช่อง (AND)</a:t>
            </a:r>
            <a:endParaRPr lang="en-US" sz="1400" dirty="0"/>
          </a:p>
        </p:txBody>
      </p:sp>
      <p:pic>
        <p:nvPicPr>
          <p:cNvPr id="15" name="sq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66944"/>
            <a:ext cx="256032" cy="256032"/>
          </a:xfrm>
          <a:prstGeom prst="rect">
            <a:avLst/>
          </a:prstGeom>
        </p:spPr>
      </p:pic>
      <p:sp>
        <p:nvSpPr>
          <p:cNvPr id="16" name="text328"/>
          <p:cNvSpPr txBox="1"/>
          <p:nvPr/>
        </p:nvSpPr>
        <p:spPr>
          <a:xfrm>
            <a:off x="7242048" y="5221224"/>
            <a:ext cx="44010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ชื่อบางส่วน  </a:t>
            </a:r>
            <a:pPr indent="0" marL="0">
              <a:buNone/>
            </a:pPr>
            <a:r>
              <a:rPr lang="en-US" sz="14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 '%' + คำค้น + '%' แทน ? ไม่ได้ต่อเข้าคำสั่ง</a:t>
            </a:r>
            <a:endParaRPr lang="en-US" sz="1400" dirty="0"/>
          </a:p>
        </p:txBody>
      </p:sp>
      <p:sp>
        <p:nvSpPr>
          <p:cNvPr id="17" name="text329"/>
          <p:cNvSpPr txBox="1"/>
          <p:nvPr/>
        </p:nvSpPr>
        <p:spPr>
          <a:xfrm>
            <a:off x="6858000" y="585216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สีตัวอักษรของแถว: ปกติ = จองแล้ว · เขียว = ตรวจแล้ว · เทา = ยกเลิก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5 · ยกเลิกคิว และบันทึกผลตรวจ</a:t>
            </a:r>
            <a:endParaRPr lang="en-US" sz="3000" dirty="0"/>
          </a:p>
        </p:txBody>
      </p:sp>
      <p:sp>
        <p:nvSpPr>
          <p:cNvPr id="3" name="speakerPill330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331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600" dirty="0"/>
          </a:p>
        </p:txBody>
      </p:sp>
      <p:sp>
        <p:nvSpPr>
          <p:cNvPr id="5" name="pill332"/>
          <p:cNvSpPr/>
          <p:nvPr/>
        </p:nvSpPr>
        <p:spPr>
          <a:xfrm>
            <a:off x="548640" y="187452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6" name="text333"/>
          <p:cNvSpPr txBox="1"/>
          <p:nvPr/>
        </p:nvSpPr>
        <p:spPr>
          <a:xfrm>
            <a:off x="548640" y="1874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จองแล้ว</a:t>
            </a:r>
            <a:endParaRPr lang="en-US" sz="1700" dirty="0"/>
          </a:p>
        </p:txBody>
      </p:sp>
      <p:sp>
        <p:nvSpPr>
          <p:cNvPr id="7" name="pill334"/>
          <p:cNvSpPr/>
          <p:nvPr/>
        </p:nvSpPr>
        <p:spPr>
          <a:xfrm>
            <a:off x="3794760" y="1298448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EEEDED"/>
          </a:solidFill>
          <a:ln w="12700">
            <a:solidFill>
              <a:srgbClr val="918F8F"/>
            </a:solidFill>
            <a:prstDash val="solid"/>
          </a:ln>
        </p:spPr>
      </p:sp>
      <p:sp>
        <p:nvSpPr>
          <p:cNvPr id="8" name="text335"/>
          <p:cNvSpPr txBox="1"/>
          <p:nvPr/>
        </p:nvSpPr>
        <p:spPr>
          <a:xfrm>
            <a:off x="3794760" y="12984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F5C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</a:t>
            </a:r>
            <a:endParaRPr lang="en-US" sz="1700" dirty="0"/>
          </a:p>
        </p:txBody>
      </p:sp>
      <p:sp>
        <p:nvSpPr>
          <p:cNvPr id="9" name="pill336"/>
          <p:cNvSpPr/>
          <p:nvPr/>
        </p:nvSpPr>
        <p:spPr>
          <a:xfrm>
            <a:off x="3794760" y="2450592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0" name="text337"/>
          <p:cNvSpPr txBox="1"/>
          <p:nvPr/>
        </p:nvSpPr>
        <p:spPr>
          <a:xfrm>
            <a:off x="3794760" y="24505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ตรวจแล้ว</a:t>
            </a:r>
            <a:endParaRPr lang="en-US" sz="1700" dirty="0"/>
          </a:p>
        </p:txBody>
      </p:sp>
      <p:sp>
        <p:nvSpPr>
          <p:cNvPr id="11" name="toCancel"/>
          <p:cNvSpPr/>
          <p:nvPr/>
        </p:nvSpPr>
        <p:spPr>
          <a:xfrm flipV="1">
            <a:off x="2148840" y="1572768"/>
            <a:ext cx="1600200" cy="502920"/>
          </a:xfrm>
          <a:prstGeom prst="line">
            <a:avLst/>
          </a:prstGeom>
          <a:noFill/>
          <a:ln w="22225">
            <a:solidFill>
              <a:srgbClr val="3E5C69"/>
            </a:solidFill>
            <a:prstDash val="solid"/>
            <a:tailEnd type="triangle"/>
          </a:ln>
        </p:spPr>
      </p:sp>
      <p:sp>
        <p:nvSpPr>
          <p:cNvPr id="12" name="toDone"/>
          <p:cNvSpPr/>
          <p:nvPr/>
        </p:nvSpPr>
        <p:spPr>
          <a:xfrm>
            <a:off x="2148840" y="2221992"/>
            <a:ext cx="1600200" cy="502920"/>
          </a:xfrm>
          <a:prstGeom prst="line">
            <a:avLst/>
          </a:prstGeom>
          <a:noFill/>
          <a:ln w="22225">
            <a:solidFill>
              <a:srgbClr val="3E5C69"/>
            </a:solidFill>
            <a:prstDash val="solid"/>
            <a:tailEnd type="triangle"/>
          </a:ln>
        </p:spPr>
      </p:sp>
      <p:sp>
        <p:nvSpPr>
          <p:cNvPr id="13" name="text338"/>
          <p:cNvSpPr txBox="1"/>
          <p:nvPr/>
        </p:nvSpPr>
        <p:spPr>
          <a:xfrm>
            <a:off x="548640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เปลี่ยนต่อไม่ได้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เตือนเป็นภาษาไทย</a:t>
            </a:r>
            <a:endParaRPr lang="en-US" sz="1200" dirty="0"/>
          </a:p>
        </p:txBody>
      </p:sp>
      <p:sp>
        <p:nvSpPr>
          <p:cNvPr id="14" name="text339"/>
          <p:cNvSpPr txBox="1"/>
          <p:nvPr/>
        </p:nvSpPr>
        <p:spPr>
          <a:xfrm>
            <a:off x="54864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บันทึกผลตรวจ = 2 คำสั่งใน transaction เดียว (execute_transaction)</a:t>
            </a:r>
            <a:endParaRPr lang="en-US" sz="1500" dirty="0"/>
          </a:p>
        </p:txBody>
      </p:sp>
      <p:sp>
        <p:nvSpPr>
          <p:cNvPr id="15" name="code340"/>
          <p:cNvSpPr/>
          <p:nvPr/>
        </p:nvSpPr>
        <p:spPr>
          <a:xfrm>
            <a:off x="548640" y="3657600"/>
            <a:ext cx="6400800" cy="1280160"/>
          </a:xfrm>
          <a:prstGeom prst="roundRect">
            <a:avLst>
              <a:gd name="adj" fmla="val 5714"/>
            </a:avLst>
          </a:prstGeom>
          <a:solidFill>
            <a:srgbClr val="2E2B2F"/>
          </a:solidFill>
          <a:ln w="12700">
            <a:solidFill>
              <a:srgbClr val="2E2B2F"/>
            </a:solidFill>
            <a:prstDash val="solid"/>
          </a:ln>
        </p:spPr>
      </p:sp>
      <p:sp>
        <p:nvSpPr>
          <p:cNvPr id="16" name="text341"/>
          <p:cNvSpPr txBox="1"/>
          <p:nvPr/>
        </p:nvSpPr>
        <p:spPr>
          <a:xfrm>
            <a:off x="731520" y="3776472"/>
            <a:ext cx="6080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UPDATE appointments SET status = 'ตรวจแล้ว'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WHERE appt_id = ? AND status = 'จองแล้ว';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INSERT INTO treatments (appt_id, diagnosis, treatment)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VALUES (?, ?, ?);</a:t>
            </a:r>
            <a:endParaRPr lang="en-US" sz="1300" dirty="0"/>
          </a:p>
        </p:txBody>
      </p:sp>
      <p:sp>
        <p:nvSpPr>
          <p:cNvPr id="17" name="text342"/>
          <p:cNvSpPr txBox="1"/>
          <p:nvPr/>
        </p:nvSpPr>
        <p:spPr>
          <a:xfrm>
            <a:off x="548640" y="5029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ทำครบทั้ง 2 คำสั่ง หรือไม่ทำเลย: </a:t>
            </a:r>
            <a:pPr indent="0" marL="0">
              <a:buNone/>
            </a:pPr>
            <a:r>
              <a:rPr lang="en-US" sz="135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คำสั่งไหนได้ 0 แถว หรือเกิด error › rollback สถานะกับผลตรวจจึงไม่ขัดกัน</a:t>
            </a:r>
            <a:endParaRPr lang="en-US" sz="1350" dirty="0"/>
          </a:p>
        </p:txBody>
      </p:sp>
      <p:sp>
        <p:nvSpPr>
          <p:cNvPr id="18" name="text343"/>
          <p:cNvSpPr txBox="1"/>
          <p:nvPr/>
        </p:nvSpPr>
        <p:spPr>
          <a:xfrm>
            <a:off x="548640" y="56235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ยกเลิก: </a:t>
            </a:r>
            <a:pPr indent="0" marL="0">
              <a:buNone/>
            </a:pPr>
            <a:r>
              <a:rPr lang="en-US" sz="135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UPDATE … SET status = 'ยกเลิก' WHERE … AND status = 'จองแล้ว' ไม่ลบแถว ช่องว่างให้จองใหม่ทันที</a:t>
            </a:r>
            <a:endParaRPr lang="en-US" sz="1350" dirty="0"/>
          </a:p>
        </p:txBody>
      </p:sp>
      <p:sp>
        <p:nvSpPr>
          <p:cNvPr id="19" name="text344"/>
          <p:cNvSpPr txBox="1"/>
          <p:nvPr/>
        </p:nvSpPr>
        <p:spPr>
          <a:xfrm>
            <a:off x="7269480" y="1298448"/>
            <a:ext cx="43735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ฟอร์มผลวินิจฉัย (ภาพจริง)</a:t>
            </a:r>
            <a:endParaRPr lang="en-US" sz="1500" dirty="0"/>
          </a:p>
        </p:txBody>
      </p:sp>
      <p:sp>
        <p:nvSpPr>
          <p:cNvPr id="20" name="shotframe345"/>
          <p:cNvSpPr/>
          <p:nvPr/>
        </p:nvSpPr>
        <p:spPr>
          <a:xfrm>
            <a:off x="7242048" y="1664208"/>
            <a:ext cx="4428439" cy="2253346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21" name="shot346" descr="shots/form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691640"/>
            <a:ext cx="4373575" cy="2198482"/>
          </a:xfrm>
          <a:prstGeom prst="rect">
            <a:avLst/>
          </a:prstGeom>
        </p:spPr>
      </p:pic>
      <p:sp>
        <p:nvSpPr>
          <p:cNvPr id="22" name="text347"/>
          <p:cNvSpPr txBox="1"/>
          <p:nvPr/>
        </p:nvSpPr>
        <p:spPr>
          <a:xfrm>
            <a:off x="7269480" y="4027282"/>
            <a:ext cx="4373575" cy="2190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ขึ้นหลังกดยืนยัน เฉพาะคิว "จองแล้ว" ที่ถึงวันนัด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ผลวินิจฉัยบังคับกรอก การรักษาไม่บังคับ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กดยกเลิกในฟอร์ม = ไม่บันทึกอะไรเลย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 สด · ค้นหา ยกเลิก และบันทึกผลตรวจ</a:t>
            </a:r>
            <a:endParaRPr lang="en-US" sz="3000" dirty="0"/>
          </a:p>
        </p:txBody>
      </p:sp>
      <p:sp>
        <p:nvSpPr>
          <p:cNvPr id="3" name="speakerPill348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585358"/>
          </a:solidFill>
          <a:ln w="12700">
            <a:solidFill>
              <a:srgbClr val="585358"/>
            </a:solidFill>
            <a:prstDash val="solid"/>
          </a:ln>
        </p:spPr>
      </p:sp>
      <p:sp>
        <p:nvSpPr>
          <p:cNvPr id="4" name="text349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600" dirty="0"/>
          </a:p>
        </p:txBody>
      </p:sp>
      <p:sp>
        <p:nvSpPr>
          <p:cNvPr id="5" name="pill350"/>
          <p:cNvSpPr/>
          <p:nvPr/>
        </p:nvSpPr>
        <p:spPr>
          <a:xfrm>
            <a:off x="548640" y="138074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6" name="text351"/>
          <p:cNvSpPr txBox="1"/>
          <p:nvPr/>
        </p:nvSpPr>
        <p:spPr>
          <a:xfrm>
            <a:off x="548640" y="1380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352"/>
          <p:cNvSpPr txBox="1"/>
          <p:nvPr/>
        </p:nvSpPr>
        <p:spPr>
          <a:xfrm>
            <a:off x="1280160" y="13258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ค้นชื่อ "ชไมพร"</a:t>
            </a:r>
            <a:endParaRPr lang="en-US" sz="1900" dirty="0"/>
          </a:p>
        </p:txBody>
      </p:sp>
      <p:sp>
        <p:nvSpPr>
          <p:cNvPr id="8" name="text353"/>
          <p:cNvSpPr txBox="1"/>
          <p:nvPr/>
        </p:nvSpPr>
        <p:spPr>
          <a:xfrm>
            <a:off x="1280160" y="17373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เจอคิวที่ 31 พรุ่งนี้ 10:00 สถานะ จองแล้ว</a:t>
            </a:r>
            <a:endParaRPr lang="en-US" sz="1500" dirty="0"/>
          </a:p>
        </p:txBody>
      </p:sp>
      <p:sp>
        <p:nvSpPr>
          <p:cNvPr id="9" name="pill354"/>
          <p:cNvSpPr/>
          <p:nvPr/>
        </p:nvSpPr>
        <p:spPr>
          <a:xfrm>
            <a:off x="548640" y="23317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0" name="text355"/>
          <p:cNvSpPr txBox="1"/>
          <p:nvPr/>
        </p:nvSpPr>
        <p:spPr>
          <a:xfrm>
            <a:off x="548640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356"/>
          <p:cNvSpPr txBox="1"/>
          <p:nvPr/>
        </p:nvSpPr>
        <p:spPr>
          <a:xfrm>
            <a:off x="1280160" y="227685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ยกเลิกคิวที่ 31</a:t>
            </a:r>
            <a:endParaRPr lang="en-US" sz="1900" dirty="0"/>
          </a:p>
        </p:txBody>
      </p:sp>
      <p:sp>
        <p:nvSpPr>
          <p:cNvPr id="12" name="text357"/>
          <p:cNvSpPr txBox="1"/>
          <p:nvPr/>
        </p:nvSpPr>
        <p:spPr>
          <a:xfrm>
            <a:off x="1280160" y="2688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ตัวอักษรเป็นสีเทา · กดยกเลิกซ้ำ ระบบเตือน</a:t>
            </a:r>
            <a:endParaRPr lang="en-US" sz="1500" dirty="0"/>
          </a:p>
        </p:txBody>
      </p:sp>
      <p:sp>
        <p:nvSpPr>
          <p:cNvPr id="13" name="pill358"/>
          <p:cNvSpPr/>
          <p:nvPr/>
        </p:nvSpPr>
        <p:spPr>
          <a:xfrm>
            <a:off x="548640" y="328269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4" name="text359"/>
          <p:cNvSpPr txBox="1"/>
          <p:nvPr/>
        </p:nvSpPr>
        <p:spPr>
          <a:xfrm>
            <a:off x="54864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360"/>
          <p:cNvSpPr txBox="1"/>
          <p:nvPr/>
        </p:nvSpPr>
        <p:spPr>
          <a:xfrm>
            <a:off x="1280160" y="322783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ดูแท็บจองคิว</a:t>
            </a:r>
            <a:endParaRPr lang="en-US" sz="1900" dirty="0"/>
          </a:p>
        </p:txBody>
      </p:sp>
      <p:sp>
        <p:nvSpPr>
          <p:cNvPr id="16" name="text361"/>
          <p:cNvSpPr txBox="1"/>
          <p:nvPr/>
        </p:nvSpPr>
        <p:spPr>
          <a:xfrm>
            <a:off x="1280160" y="363931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 10:00 พรุ่งนี้ของ พญ.กมลวรรณ กลับมาว่าง</a:t>
            </a:r>
            <a:endParaRPr lang="en-US" sz="1500" dirty="0"/>
          </a:p>
        </p:txBody>
      </p:sp>
      <p:sp>
        <p:nvSpPr>
          <p:cNvPr id="17" name="pill362"/>
          <p:cNvSpPr/>
          <p:nvPr/>
        </p:nvSpPr>
        <p:spPr>
          <a:xfrm>
            <a:off x="548640" y="423367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8" name="text363"/>
          <p:cNvSpPr txBox="1"/>
          <p:nvPr/>
        </p:nvSpPr>
        <p:spPr>
          <a:xfrm>
            <a:off x="548640" y="4233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364"/>
          <p:cNvSpPr txBox="1"/>
          <p:nvPr/>
        </p:nvSpPr>
        <p:spPr>
          <a:xfrm>
            <a:off x="1280160" y="417880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"วันนี้" › คิวที่ 7 › บันทึกว่าตรวจแล้ว</a:t>
            </a:r>
            <a:endParaRPr lang="en-US" sz="1900" dirty="0"/>
          </a:p>
        </p:txBody>
      </p:sp>
      <p:sp>
        <p:nvSpPr>
          <p:cNvPr id="20" name="text365"/>
          <p:cNvSpPr txBox="1"/>
          <p:nvPr/>
        </p:nvSpPr>
        <p:spPr>
          <a:xfrm>
            <a:off x="1280160" y="459028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กรอกผลวินิจฉัย › ตัวอักษรเป็นสีเขียว</a:t>
            </a:r>
            <a:endParaRPr lang="en-US" sz="1500" dirty="0"/>
          </a:p>
        </p:txBody>
      </p:sp>
      <p:sp>
        <p:nvSpPr>
          <p:cNvPr id="21" name="pill366"/>
          <p:cNvSpPr/>
          <p:nvPr/>
        </p:nvSpPr>
        <p:spPr>
          <a:xfrm>
            <a:off x="548640" y="518464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22" name="text367"/>
          <p:cNvSpPr txBox="1"/>
          <p:nvPr/>
        </p:nvSpPr>
        <p:spPr>
          <a:xfrm>
            <a:off x="548640" y="5184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368"/>
          <p:cNvSpPr txBox="1"/>
          <p:nvPr/>
        </p:nvSpPr>
        <p:spPr>
          <a:xfrm>
            <a:off x="1280160" y="512978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ดูแถบหัว</a:t>
            </a:r>
            <a:endParaRPr lang="en-US" sz="1900" dirty="0"/>
          </a:p>
        </p:txBody>
      </p:sp>
      <p:sp>
        <p:nvSpPr>
          <p:cNvPr id="24" name="text369"/>
          <p:cNvSpPr txBox="1"/>
          <p:nvPr/>
        </p:nvSpPr>
        <p:spPr>
          <a:xfrm>
            <a:off x="1280160" y="554126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7/0/6/1 → 7/1/5/1 (คิวทั้งหมด/ตรวจแล้ว/รอตรวจ/ยกเลิก)</a:t>
            </a:r>
            <a:endParaRPr lang="en-US" sz="1500" dirty="0"/>
          </a:p>
        </p:txBody>
      </p:sp>
      <p:sp>
        <p:nvSpPr>
          <p:cNvPr id="25" name="demoInfo2"/>
          <p:cNvSpPr/>
          <p:nvPr/>
        </p:nvSpPr>
        <p:spPr>
          <a:xfrm>
            <a:off x="8229600" y="1325880"/>
            <a:ext cx="3410712" cy="4572000"/>
          </a:xfrm>
          <a:prstGeom prst="roundRect">
            <a:avLst>
              <a:gd name="adj" fmla="val 3217"/>
            </a:avLst>
          </a:prstGeom>
          <a:solidFill>
            <a:srgbClr val="585358"/>
          </a:solidFill>
          <a:ln w="12700">
            <a:solidFill>
              <a:srgbClr val="585358"/>
            </a:solidFill>
            <a:prstDash val="solid"/>
          </a:ln>
        </p:spPr>
      </p:sp>
      <p:sp>
        <p:nvSpPr>
          <p:cNvPr id="26" name="iconbg370"/>
          <p:cNvSpPr/>
          <p:nvPr/>
        </p:nvSpPr>
        <p:spPr>
          <a:xfrm>
            <a:off x="8549640" y="1600200"/>
            <a:ext cx="731520" cy="73152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27" name="icon37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783080"/>
            <a:ext cx="365760" cy="365760"/>
          </a:xfrm>
          <a:prstGeom prst="rect">
            <a:avLst/>
          </a:prstGeom>
        </p:spPr>
      </p:pic>
      <p:sp>
        <p:nvSpPr>
          <p:cNvPr id="28" name="text372"/>
          <p:cNvSpPr txBox="1"/>
          <p:nvPr/>
        </p:nvSpPr>
        <p:spPr>
          <a:xfrm>
            <a:off x="850392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พูด: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คุมเครื่อง: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700" dirty="0"/>
          </a:p>
        </p:txBody>
      </p:sp>
      <p:sp>
        <p:nvSpPr>
          <p:cNvPr id="29" name="text373"/>
          <p:cNvSpPr txBox="1"/>
          <p:nvPr/>
        </p:nvSpPr>
        <p:spPr>
          <a:xfrm>
            <a:off x="8549640" y="356616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ทำต่อจาก Demo ของ C1 ข้อมูลมีคิวที่ 31 แล้ว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ก่อนกด "วันนี้" ให้กด "ล้างเงื่อนไข" ก่อนเสมอ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ดูแถบหัวก่อนและหลังบันทึกผลตรวจ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DEBF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ปัญหาที่เจอและวิธีแก้</a:t>
            </a:r>
            <a:endParaRPr lang="en-US" sz="3000" dirty="0"/>
          </a:p>
        </p:txBody>
      </p:sp>
      <p:sp>
        <p:nvSpPr>
          <p:cNvPr id="3" name="speakerPill374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375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A1</a:t>
            </a:r>
            <a:endParaRPr lang="en-US" sz="1600" dirty="0"/>
          </a:p>
        </p:txBody>
      </p:sp>
      <p:sp>
        <p:nvSpPr>
          <p:cNvPr id="5" name="card376"/>
          <p:cNvSpPr/>
          <p:nvPr/>
        </p:nvSpPr>
        <p:spPr>
          <a:xfrm>
            <a:off x="548640" y="1325880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1F3"/>
          </a:solidFill>
          <a:ln w="9525">
            <a:solidFill>
              <a:srgbClr val="F9C2CB"/>
            </a:solidFill>
            <a:prstDash val="solid"/>
          </a:ln>
        </p:spPr>
      </p:sp>
      <p:pic>
        <p:nvPicPr>
          <p:cNvPr id="6" name="iss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91056"/>
            <a:ext cx="310896" cy="310896"/>
          </a:xfrm>
          <a:prstGeom prst="rect">
            <a:avLst/>
          </a:prstGeom>
        </p:spPr>
      </p:pic>
      <p:sp>
        <p:nvSpPr>
          <p:cNvPr id="7" name="text377"/>
          <p:cNvSpPr txBox="1"/>
          <p:nvPr/>
        </p:nvSpPr>
        <p:spPr>
          <a:xfrm>
            <a:off x="1280160" y="132588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ยกเลิกคิวแล้ว จองช่องเดิมไม่ได้ (ตอนใช้ UNIQUE ธรรมดา)</a:t>
            </a:r>
            <a:endParaRPr lang="en-US" sz="1450" dirty="0"/>
          </a:p>
        </p:txBody>
      </p:sp>
      <p:sp>
        <p:nvSpPr>
          <p:cNvPr id="8" name="arrow378"/>
          <p:cNvSpPr/>
          <p:nvPr/>
        </p:nvSpPr>
        <p:spPr>
          <a:xfrm>
            <a:off x="5870448" y="1581912"/>
            <a:ext cx="384048" cy="329184"/>
          </a:xfrm>
          <a:prstGeom prst="rightArrow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9" name="card379"/>
          <p:cNvSpPr/>
          <p:nvPr/>
        </p:nvSpPr>
        <p:spPr>
          <a:xfrm>
            <a:off x="6446520" y="1325880"/>
            <a:ext cx="5196535" cy="841248"/>
          </a:xfrm>
          <a:prstGeom prst="roundRect">
            <a:avLst>
              <a:gd name="adj" fmla="val 13043"/>
            </a:avLst>
          </a:prstGeom>
          <a:solidFill>
            <a:srgbClr val="EEF8F0"/>
          </a:solidFill>
          <a:ln w="9525">
            <a:solidFill>
              <a:srgbClr val="B7DFC0"/>
            </a:solidFill>
            <a:prstDash val="solid"/>
          </a:ln>
        </p:spPr>
      </p:sp>
      <p:pic>
        <p:nvPicPr>
          <p:cNvPr id="10" name="fix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91056"/>
            <a:ext cx="310896" cy="310896"/>
          </a:xfrm>
          <a:prstGeom prst="rect">
            <a:avLst/>
          </a:prstGeom>
        </p:spPr>
      </p:pic>
      <p:sp>
        <p:nvSpPr>
          <p:cNvPr id="11" name="text380"/>
          <p:cNvSpPr txBox="1"/>
          <p:nvPr/>
        </p:nvSpPr>
        <p:spPr>
          <a:xfrm>
            <a:off x="7178040" y="1325880"/>
            <a:ext cx="4282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เปลี่ยนเป็น UNIQUE แบบมีเงื่อนไข ไม่นับคิวที่ยกเลิก</a:t>
            </a:r>
            <a:endParaRPr lang="en-US" sz="1450" dirty="0"/>
          </a:p>
        </p:txBody>
      </p:sp>
      <p:sp>
        <p:nvSpPr>
          <p:cNvPr id="12" name="card381"/>
          <p:cNvSpPr/>
          <p:nvPr/>
        </p:nvSpPr>
        <p:spPr>
          <a:xfrm>
            <a:off x="548640" y="2304288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1F3"/>
          </a:solidFill>
          <a:ln w="9525">
            <a:solidFill>
              <a:srgbClr val="F9C2CB"/>
            </a:solidFill>
            <a:prstDash val="solid"/>
          </a:ln>
        </p:spPr>
      </p:sp>
      <p:pic>
        <p:nvPicPr>
          <p:cNvPr id="13" name="iss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9464"/>
            <a:ext cx="310896" cy="310896"/>
          </a:xfrm>
          <a:prstGeom prst="rect">
            <a:avLst/>
          </a:prstGeom>
        </p:spPr>
      </p:pic>
      <p:sp>
        <p:nvSpPr>
          <p:cNvPr id="14" name="text382"/>
          <p:cNvSpPr txBox="1"/>
          <p:nvPr/>
        </p:nvSpPr>
        <p:spPr>
          <a:xfrm>
            <a:off x="1280160" y="230428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คอลัมน์ "สถานะ" ในแท็บค้นหาล้นขอบขวา (เจอตอนทดสอบบน Windows)</a:t>
            </a:r>
            <a:endParaRPr lang="en-US" sz="1450" dirty="0"/>
          </a:p>
        </p:txBody>
      </p:sp>
      <p:sp>
        <p:nvSpPr>
          <p:cNvPr id="15" name="arrow383"/>
          <p:cNvSpPr/>
          <p:nvPr/>
        </p:nvSpPr>
        <p:spPr>
          <a:xfrm>
            <a:off x="5870448" y="2560320"/>
            <a:ext cx="384048" cy="329184"/>
          </a:xfrm>
          <a:prstGeom prst="rightArrow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6" name="card384"/>
          <p:cNvSpPr/>
          <p:nvPr/>
        </p:nvSpPr>
        <p:spPr>
          <a:xfrm>
            <a:off x="6446520" y="2304288"/>
            <a:ext cx="5196535" cy="841248"/>
          </a:xfrm>
          <a:prstGeom prst="roundRect">
            <a:avLst>
              <a:gd name="adj" fmla="val 13043"/>
            </a:avLst>
          </a:prstGeom>
          <a:solidFill>
            <a:srgbClr val="EEF8F0"/>
          </a:solidFill>
          <a:ln w="9525">
            <a:solidFill>
              <a:srgbClr val="B7DFC0"/>
            </a:solidFill>
            <a:prstDash val="solid"/>
          </a:ln>
        </p:spPr>
      </p:sp>
      <p:pic>
        <p:nvPicPr>
          <p:cNvPr id="17" name="fix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569464"/>
            <a:ext cx="310896" cy="310896"/>
          </a:xfrm>
          <a:prstGeom prst="rect">
            <a:avLst/>
          </a:prstGeom>
        </p:spPr>
      </p:pic>
      <p:sp>
        <p:nvSpPr>
          <p:cNvPr id="18" name="text385"/>
          <p:cNvSpPr txBox="1"/>
          <p:nvPr/>
        </p:nvSpPr>
        <p:spPr>
          <a:xfrm>
            <a:off x="7178040" y="2304288"/>
            <a:ext cx="4282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ปรับความกว้างคอลัมน์ให้ยืดตามหน้าต่าง เห็นครบ 9 คอลัมน์</a:t>
            </a:r>
            <a:endParaRPr lang="en-US" sz="1450" dirty="0"/>
          </a:p>
        </p:txBody>
      </p:sp>
      <p:sp>
        <p:nvSpPr>
          <p:cNvPr id="19" name="card386"/>
          <p:cNvSpPr/>
          <p:nvPr/>
        </p:nvSpPr>
        <p:spPr>
          <a:xfrm>
            <a:off x="548640" y="3282696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1F3"/>
          </a:solidFill>
          <a:ln w="9525">
            <a:solidFill>
              <a:srgbClr val="F9C2CB"/>
            </a:solidFill>
            <a:prstDash val="solid"/>
          </a:ln>
        </p:spPr>
      </p:sp>
      <p:pic>
        <p:nvPicPr>
          <p:cNvPr id="20" name="iss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547872"/>
            <a:ext cx="310896" cy="310896"/>
          </a:xfrm>
          <a:prstGeom prst="rect">
            <a:avLst/>
          </a:prstGeom>
        </p:spPr>
      </p:pic>
      <p:sp>
        <p:nvSpPr>
          <p:cNvPr id="21" name="text387"/>
          <p:cNvSpPr txBox="1"/>
          <p:nvPr/>
        </p:nvSpPr>
        <p:spPr>
          <a:xfrm>
            <a:off x="1280160" y="3282696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เลข 0 หน้าเบอร์หาย ตอนอ่านค่าจากตารางบนหน้าจอ</a:t>
            </a:r>
            <a:endParaRPr lang="en-US" sz="1450" dirty="0"/>
          </a:p>
        </p:txBody>
      </p:sp>
      <p:sp>
        <p:nvSpPr>
          <p:cNvPr id="22" name="arrow388"/>
          <p:cNvSpPr/>
          <p:nvPr/>
        </p:nvSpPr>
        <p:spPr>
          <a:xfrm>
            <a:off x="5870448" y="3538728"/>
            <a:ext cx="384048" cy="329184"/>
          </a:xfrm>
          <a:prstGeom prst="rightArrow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23" name="card389"/>
          <p:cNvSpPr/>
          <p:nvPr/>
        </p:nvSpPr>
        <p:spPr>
          <a:xfrm>
            <a:off x="6446520" y="3282696"/>
            <a:ext cx="5196535" cy="841248"/>
          </a:xfrm>
          <a:prstGeom prst="roundRect">
            <a:avLst>
              <a:gd name="adj" fmla="val 13043"/>
            </a:avLst>
          </a:prstGeom>
          <a:solidFill>
            <a:srgbClr val="EEF8F0"/>
          </a:solidFill>
          <a:ln w="9525">
            <a:solidFill>
              <a:srgbClr val="B7DFC0"/>
            </a:solidFill>
            <a:prstDash val="solid"/>
          </a:ln>
        </p:spPr>
      </p:sp>
      <p:pic>
        <p:nvPicPr>
          <p:cNvPr id="24" name="fix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547872"/>
            <a:ext cx="310896" cy="310896"/>
          </a:xfrm>
          <a:prstGeom prst="rect">
            <a:avLst/>
          </a:prstGeom>
        </p:spPr>
      </p:pic>
      <p:sp>
        <p:nvSpPr>
          <p:cNvPr id="25" name="text390"/>
          <p:cNvSpPr txBox="1"/>
          <p:nvPr/>
        </p:nvSpPr>
        <p:spPr>
          <a:xfrm>
            <a:off x="7178040" y="3282696"/>
            <a:ext cx="4282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ใช้รหัสเป็น iid ของแถว แล้วดึงข้อมูลจากฐานข้อมูลใหม่</a:t>
            </a:r>
            <a:endParaRPr lang="en-US" sz="1450" dirty="0"/>
          </a:p>
        </p:txBody>
      </p:sp>
      <p:sp>
        <p:nvSpPr>
          <p:cNvPr id="26" name="card391"/>
          <p:cNvSpPr/>
          <p:nvPr/>
        </p:nvSpPr>
        <p:spPr>
          <a:xfrm>
            <a:off x="548640" y="4261104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1F3"/>
          </a:solidFill>
          <a:ln w="9525">
            <a:solidFill>
              <a:srgbClr val="F9C2CB"/>
            </a:solidFill>
            <a:prstDash val="solid"/>
          </a:ln>
        </p:spPr>
      </p:sp>
      <p:pic>
        <p:nvPicPr>
          <p:cNvPr id="27" name="iss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526280"/>
            <a:ext cx="310896" cy="310896"/>
          </a:xfrm>
          <a:prstGeom prst="rect">
            <a:avLst/>
          </a:prstGeom>
        </p:spPr>
      </p:pic>
      <p:sp>
        <p:nvSpPr>
          <p:cNvPr id="28" name="text392"/>
          <p:cNvSpPr txBox="1"/>
          <p:nvPr/>
        </p:nvSpPr>
        <p:spPr>
          <a:xfrm>
            <a:off x="1280160" y="4261104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จองช่องของวันนี้ที่เลยเวลาไปแล้วได้</a:t>
            </a:r>
            <a:endParaRPr lang="en-US" sz="1450" dirty="0"/>
          </a:p>
        </p:txBody>
      </p:sp>
      <p:sp>
        <p:nvSpPr>
          <p:cNvPr id="29" name="arrow393"/>
          <p:cNvSpPr/>
          <p:nvPr/>
        </p:nvSpPr>
        <p:spPr>
          <a:xfrm>
            <a:off x="5870448" y="4517136"/>
            <a:ext cx="384048" cy="329184"/>
          </a:xfrm>
          <a:prstGeom prst="rightArrow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30" name="card394"/>
          <p:cNvSpPr/>
          <p:nvPr/>
        </p:nvSpPr>
        <p:spPr>
          <a:xfrm>
            <a:off x="6446520" y="4261104"/>
            <a:ext cx="5196535" cy="841248"/>
          </a:xfrm>
          <a:prstGeom prst="roundRect">
            <a:avLst>
              <a:gd name="adj" fmla="val 13043"/>
            </a:avLst>
          </a:prstGeom>
          <a:solidFill>
            <a:srgbClr val="EEF8F0"/>
          </a:solidFill>
          <a:ln w="9525">
            <a:solidFill>
              <a:srgbClr val="B7DFC0"/>
            </a:solidFill>
            <a:prstDash val="solid"/>
          </a:ln>
        </p:spPr>
      </p:sp>
      <p:pic>
        <p:nvPicPr>
          <p:cNvPr id="31" name="fix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4526280"/>
            <a:ext cx="310896" cy="310896"/>
          </a:xfrm>
          <a:prstGeom prst="rect">
            <a:avLst/>
          </a:prstGeom>
        </p:spPr>
      </p:pic>
      <p:sp>
        <p:nvSpPr>
          <p:cNvPr id="32" name="text395"/>
          <p:cNvSpPr txBox="1"/>
          <p:nvPr/>
        </p:nvSpPr>
        <p:spPr>
          <a:xfrm>
            <a:off x="7178040" y="4261104"/>
            <a:ext cx="4282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กรองด้วยเวลาปัจจุบัน และเช็กซ้ำตอนกดบันทึก</a:t>
            </a:r>
            <a:endParaRPr lang="en-US" sz="1450" dirty="0"/>
          </a:p>
        </p:txBody>
      </p:sp>
      <p:sp>
        <p:nvSpPr>
          <p:cNvPr id="33" name="card396"/>
          <p:cNvSpPr/>
          <p:nvPr/>
        </p:nvSpPr>
        <p:spPr>
          <a:xfrm>
            <a:off x="548640" y="5239512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1F3"/>
          </a:solidFill>
          <a:ln w="9525">
            <a:solidFill>
              <a:srgbClr val="F9C2CB"/>
            </a:solidFill>
            <a:prstDash val="solid"/>
          </a:ln>
        </p:spPr>
      </p:sp>
      <p:pic>
        <p:nvPicPr>
          <p:cNvPr id="34" name="iss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504688"/>
            <a:ext cx="310896" cy="310896"/>
          </a:xfrm>
          <a:prstGeom prst="rect">
            <a:avLst/>
          </a:prstGeom>
        </p:spPr>
      </p:pic>
      <p:sp>
        <p:nvSpPr>
          <p:cNvPr id="35" name="text397"/>
          <p:cNvSpPr txBox="1"/>
          <p:nvPr/>
        </p:nvSpPr>
        <p:spPr>
          <a:xfrm>
            <a:off x="1280160" y="5239512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ตัวอักษรสีขาวบนปุ่มและแท็บสีชมพูอ่านยาก</a:t>
            </a:r>
            <a:endParaRPr lang="en-US" sz="1450" dirty="0"/>
          </a:p>
        </p:txBody>
      </p:sp>
      <p:sp>
        <p:nvSpPr>
          <p:cNvPr id="36" name="arrow398"/>
          <p:cNvSpPr/>
          <p:nvPr/>
        </p:nvSpPr>
        <p:spPr>
          <a:xfrm>
            <a:off x="5870448" y="5495544"/>
            <a:ext cx="384048" cy="329184"/>
          </a:xfrm>
          <a:prstGeom prst="rightArrow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37" name="card399"/>
          <p:cNvSpPr/>
          <p:nvPr/>
        </p:nvSpPr>
        <p:spPr>
          <a:xfrm>
            <a:off x="6446520" y="5239512"/>
            <a:ext cx="5196535" cy="841248"/>
          </a:xfrm>
          <a:prstGeom prst="roundRect">
            <a:avLst>
              <a:gd name="adj" fmla="val 13043"/>
            </a:avLst>
          </a:prstGeom>
          <a:solidFill>
            <a:srgbClr val="EEF8F0"/>
          </a:solidFill>
          <a:ln w="9525">
            <a:solidFill>
              <a:srgbClr val="B7DFC0"/>
            </a:solidFill>
            <a:prstDash val="solid"/>
          </a:ln>
        </p:spPr>
      </p:sp>
      <p:pic>
        <p:nvPicPr>
          <p:cNvPr id="38" name="fix4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0" y="5504688"/>
            <a:ext cx="310896" cy="310896"/>
          </a:xfrm>
          <a:prstGeom prst="rect">
            <a:avLst/>
          </a:prstGeom>
        </p:spPr>
      </p:pic>
      <p:sp>
        <p:nvSpPr>
          <p:cNvPr id="39" name="text400"/>
          <p:cNvSpPr txBox="1"/>
          <p:nvPr/>
        </p:nvSpPr>
        <p:spPr>
          <a:xfrm>
            <a:off x="7178040" y="5239512"/>
            <a:ext cx="4282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ใช้ตัวอักษรสีเข้ม และเป็นสีขาวเฉพาะตอนชี้หรือกด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3000" dirty="0"/>
          </a:p>
        </p:txBody>
      </p:sp>
      <p:sp>
        <p:nvSpPr>
          <p:cNvPr id="3" name="speakerPill401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585358"/>
          </a:solidFill>
          <a:ln w="12700">
            <a:solidFill>
              <a:srgbClr val="585358"/>
            </a:solidFill>
            <a:prstDash val="solid"/>
          </a:ln>
        </p:spPr>
      </p:sp>
      <p:sp>
        <p:nvSpPr>
          <p:cNvPr id="4" name="text402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A1</a:t>
            </a:r>
            <a:endParaRPr lang="en-US" sz="1600" dirty="0"/>
          </a:p>
        </p:txBody>
      </p:sp>
      <p:sp>
        <p:nvSpPr>
          <p:cNvPr id="5" name="iconbg403"/>
          <p:cNvSpPr/>
          <p:nvPr/>
        </p:nvSpPr>
        <p:spPr>
          <a:xfrm>
            <a:off x="548640" y="1371600"/>
            <a:ext cx="512064" cy="512064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6" name="icon40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499616"/>
            <a:ext cx="256032" cy="256032"/>
          </a:xfrm>
          <a:prstGeom prst="rect">
            <a:avLst/>
          </a:prstGeom>
        </p:spPr>
      </p:pic>
      <p:sp>
        <p:nvSpPr>
          <p:cNvPr id="7" name="text405"/>
          <p:cNvSpPr txBox="1"/>
          <p:nvPr/>
        </p:nvSpPr>
        <p:spPr>
          <a:xfrm>
            <a:off x="1280160" y="137160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 6 ตาราง ในรูป 3NF</a:t>
            </a:r>
            <a:endParaRPr lang="en-US" sz="1900" dirty="0"/>
          </a:p>
        </p:txBody>
      </p:sp>
      <p:sp>
        <p:nvSpPr>
          <p:cNvPr id="8" name="iconbg406"/>
          <p:cNvSpPr/>
          <p:nvPr/>
        </p:nvSpPr>
        <p:spPr>
          <a:xfrm>
            <a:off x="548640" y="2286000"/>
            <a:ext cx="512064" cy="512064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9" name="icon40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414016"/>
            <a:ext cx="256032" cy="256032"/>
          </a:xfrm>
          <a:prstGeom prst="rect">
            <a:avLst/>
          </a:prstGeom>
        </p:spPr>
      </p:pic>
      <p:sp>
        <p:nvSpPr>
          <p:cNvPr id="10" name="text408"/>
          <p:cNvSpPr txBox="1"/>
          <p:nvPr/>
        </p:nvSpPr>
        <p:spPr>
          <a:xfrm>
            <a:off x="1280160" y="228600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กันคิวซ้ำ 2 ชั้น: โปรแกรม + UNIQUE แบบมีเงื่อนไข</a:t>
            </a:r>
            <a:endParaRPr lang="en-US" sz="1900" dirty="0"/>
          </a:p>
        </p:txBody>
      </p:sp>
      <p:sp>
        <p:nvSpPr>
          <p:cNvPr id="11" name="iconbg409"/>
          <p:cNvSpPr/>
          <p:nvPr/>
        </p:nvSpPr>
        <p:spPr>
          <a:xfrm>
            <a:off x="548640" y="3200400"/>
            <a:ext cx="512064" cy="512064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12" name="icon4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328416"/>
            <a:ext cx="256032" cy="256032"/>
          </a:xfrm>
          <a:prstGeom prst="rect">
            <a:avLst/>
          </a:prstGeom>
        </p:spPr>
      </p:pic>
      <p:sp>
        <p:nvSpPr>
          <p:cNvPr id="13" name="text411"/>
          <p:cNvSpPr txBox="1"/>
          <p:nvPr/>
        </p:nvSpPr>
        <p:spPr>
          <a:xfrm>
            <a:off x="1280160" y="320040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บันทึกผลตรวจกับเปลี่ยนสถานะใน transaction เดียว</a:t>
            </a:r>
            <a:endParaRPr lang="en-US" sz="1900" dirty="0"/>
          </a:p>
        </p:txBody>
      </p:sp>
      <p:sp>
        <p:nvSpPr>
          <p:cNvPr id="14" name="iconbg412"/>
          <p:cNvSpPr/>
          <p:nvPr/>
        </p:nvSpPr>
        <p:spPr>
          <a:xfrm>
            <a:off x="548640" y="4114800"/>
            <a:ext cx="512064" cy="512064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15" name="icon4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242816"/>
            <a:ext cx="256032" cy="256032"/>
          </a:xfrm>
          <a:prstGeom prst="rect">
            <a:avLst/>
          </a:prstGeom>
        </p:spPr>
      </p:pic>
      <p:sp>
        <p:nvSpPr>
          <p:cNvPr id="16" name="text414"/>
          <p:cNvSpPr txBox="1"/>
          <p:nvPr/>
        </p:nvSpPr>
        <p:spPr>
          <a:xfrm>
            <a:off x="1280160" y="411480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ทุกคำสั่งใช้ ? และเปิด foreign key ทุกครั้ง</a:t>
            </a:r>
            <a:endParaRPr lang="en-US" sz="1900" dirty="0"/>
          </a:p>
        </p:txBody>
      </p:sp>
      <p:sp>
        <p:nvSpPr>
          <p:cNvPr id="17" name="iconbg415"/>
          <p:cNvSpPr/>
          <p:nvPr/>
        </p:nvSpPr>
        <p:spPr>
          <a:xfrm>
            <a:off x="548640" y="5029200"/>
            <a:ext cx="512064" cy="512064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18" name="icon41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5157216"/>
            <a:ext cx="256032" cy="256032"/>
          </a:xfrm>
          <a:prstGeom prst="rect">
            <a:avLst/>
          </a:prstGeom>
        </p:spPr>
      </p:pic>
      <p:sp>
        <p:nvSpPr>
          <p:cNvPr id="19" name="text417"/>
          <p:cNvSpPr txBox="1"/>
          <p:nvPr/>
        </p:nvSpPr>
        <p:spPr>
          <a:xfrm>
            <a:off x="1280160" y="502920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แจ้งเตือนภาษาไทยทุกกรณี และมีแถบหัวสรุปคิววันนี้</a:t>
            </a:r>
            <a:endParaRPr lang="en-US" sz="1900" dirty="0"/>
          </a:p>
        </p:txBody>
      </p:sp>
      <p:sp>
        <p:nvSpPr>
          <p:cNvPr id="20" name="qaBox"/>
          <p:cNvSpPr/>
          <p:nvPr/>
        </p:nvSpPr>
        <p:spPr>
          <a:xfrm>
            <a:off x="7589520" y="1371600"/>
            <a:ext cx="4050792" cy="4297680"/>
          </a:xfrm>
          <a:prstGeom prst="roundRect">
            <a:avLst>
              <a:gd name="adj" fmla="val 3386"/>
            </a:avLst>
          </a:prstGeom>
          <a:solidFill>
            <a:srgbClr val="585358"/>
          </a:solidFill>
          <a:ln w="12700">
            <a:solidFill>
              <a:srgbClr val="585358"/>
            </a:solidFill>
            <a:prstDash val="solid"/>
          </a:ln>
        </p:spPr>
      </p:sp>
      <p:sp>
        <p:nvSpPr>
          <p:cNvPr id="21" name="iconbg418"/>
          <p:cNvSpPr/>
          <p:nvPr/>
        </p:nvSpPr>
        <p:spPr>
          <a:xfrm>
            <a:off x="8979408" y="1828800"/>
            <a:ext cx="1280160" cy="1280160"/>
          </a:xfrm>
          <a:prstGeom prst="ellipse">
            <a:avLst/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pic>
        <p:nvPicPr>
          <p:cNvPr id="22" name="icon41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2148840"/>
            <a:ext cx="640080" cy="640080"/>
          </a:xfrm>
          <a:prstGeom prst="rect">
            <a:avLst/>
          </a:prstGeom>
        </p:spPr>
      </p:pic>
      <p:sp>
        <p:nvSpPr>
          <p:cNvPr id="23" name="text420"/>
          <p:cNvSpPr txBox="1"/>
          <p:nvPr/>
        </p:nvSpPr>
        <p:spPr>
          <a:xfrm>
            <a:off x="7589520" y="3383280"/>
            <a:ext cx="4050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ถาม-ตอบ</a:t>
            </a:r>
            <a:endParaRPr lang="en-US" sz="4000" dirty="0"/>
          </a:p>
        </p:txBody>
      </p:sp>
      <p:sp>
        <p:nvSpPr>
          <p:cNvPr id="24" name="text421"/>
          <p:cNvSpPr txBox="1"/>
          <p:nvPr/>
        </p:nvSpPr>
        <p:spPr>
          <a:xfrm>
            <a:off x="7589520" y="425196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ขอบคุณครับ/ค่ะ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DEBF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สไลด์สำรอง</a:t>
            </a:r>
            <a:endParaRPr lang="en-US" sz="3000" dirty="0"/>
          </a:p>
        </p:txBody>
      </p:sp>
      <p:sp>
        <p:nvSpPr>
          <p:cNvPr id="3" name="text422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ใช้เมื่อ Demo สดมีปัญหา: ภาพหน้าจอจริงทีละขั้น</a:t>
            </a:r>
            <a:endParaRPr lang="en-US" sz="2200" dirty="0"/>
          </a:p>
        </p:txBody>
      </p:sp>
      <p:sp>
        <p:nvSpPr>
          <p:cNvPr id="4" name="pill423"/>
          <p:cNvSpPr/>
          <p:nvPr/>
        </p:nvSpPr>
        <p:spPr>
          <a:xfrm>
            <a:off x="548640" y="23774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5" name="text424"/>
          <p:cNvSpPr txBox="1"/>
          <p:nvPr/>
        </p:nvSpPr>
        <p:spPr>
          <a:xfrm>
            <a:off x="548640" y="23774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C1-1 ถึง C1-8</a:t>
            </a:r>
            <a:endParaRPr lang="en-US" sz="1600" dirty="0"/>
          </a:p>
        </p:txBody>
      </p:sp>
      <p:sp>
        <p:nvSpPr>
          <p:cNvPr id="6" name="text425"/>
          <p:cNvSpPr txBox="1"/>
          <p:nvPr/>
        </p:nvSpPr>
        <p:spPr>
          <a:xfrm>
            <a:off x="3566160" y="23774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ผู้ป่วยและจองคิว (ส่วนของ C1)</a:t>
            </a:r>
            <a:endParaRPr lang="en-US" sz="1800" dirty="0"/>
          </a:p>
        </p:txBody>
      </p:sp>
      <p:sp>
        <p:nvSpPr>
          <p:cNvPr id="7" name="pill426"/>
          <p:cNvSpPr/>
          <p:nvPr/>
        </p:nvSpPr>
        <p:spPr>
          <a:xfrm>
            <a:off x="548640" y="324612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8" name="text427"/>
          <p:cNvSpPr txBox="1"/>
          <p:nvPr/>
        </p:nvSpPr>
        <p:spPr>
          <a:xfrm>
            <a:off x="548640" y="32461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D1-1 ถึง D1-9</a:t>
            </a:r>
            <a:endParaRPr lang="en-US" sz="1600" dirty="0"/>
          </a:p>
        </p:txBody>
      </p:sp>
      <p:sp>
        <p:nvSpPr>
          <p:cNvPr id="9" name="text428"/>
          <p:cNvSpPr txBox="1"/>
          <p:nvPr/>
        </p:nvSpPr>
        <p:spPr>
          <a:xfrm>
            <a:off x="3566160" y="3246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 ยกเลิก และบันทึกผลตรวจ (ส่วนของ D1)</a:t>
            </a:r>
            <a:endParaRPr lang="en-US" sz="1800" dirty="0"/>
          </a:p>
        </p:txBody>
      </p:sp>
      <p:sp>
        <p:nvSpPr>
          <p:cNvPr id="10" name="pill429"/>
          <p:cNvSpPr/>
          <p:nvPr/>
        </p:nvSpPr>
        <p:spPr>
          <a:xfrm>
            <a:off x="548640" y="41148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FD82C0"/>
          </a:solidFill>
          <a:ln w="12700">
            <a:solidFill>
              <a:srgbClr val="FD82C0"/>
            </a:solidFill>
            <a:prstDash val="solid"/>
          </a:ln>
        </p:spPr>
      </p:sp>
      <p:sp>
        <p:nvSpPr>
          <p:cNvPr id="11" name="text430"/>
          <p:cNvSpPr txBox="1"/>
          <p:nvPr/>
        </p:nvSpPr>
        <p:spPr>
          <a:xfrm>
            <a:off x="548640" y="41148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ผังงานฉบับเต็ม</a:t>
            </a:r>
            <a:endParaRPr lang="en-US" sz="1600" dirty="0"/>
          </a:p>
        </p:txBody>
      </p:sp>
      <p:sp>
        <p:nvSpPr>
          <p:cNvPr id="12" name="text431"/>
          <p:cNvSpPr txBox="1"/>
          <p:nvPr/>
        </p:nvSpPr>
        <p:spPr>
          <a:xfrm>
            <a:off x="3566160" y="41148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DEBF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ใช้ตอนถาม-ตอบ</a:t>
            </a:r>
            <a:endParaRPr lang="en-US" sz="1800" dirty="0"/>
          </a:p>
        </p:txBody>
      </p:sp>
      <p:sp>
        <p:nvSpPr>
          <p:cNvPr id="13" name="text432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82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ภาพถ่ายจากโปรแกรมจริงเมื่อ 24 ตุลาคม 2569 · วันที่ในภาพจะไม่ตรงกับวันนำเสนอ ควรถ่ายใหม่ก่อนนำเสนอ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DEBF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C1-1 · ลงทะเบียนด้วยเบอร์ซ้ำ</a:t>
            </a:r>
            <a:endParaRPr lang="en-US" sz="2600" dirty="0"/>
          </a:p>
        </p:txBody>
      </p:sp>
      <p:sp>
        <p:nvSpPr>
          <p:cNvPr id="3" name="speakerPill433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434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600" dirty="0"/>
          </a:p>
        </p:txBody>
      </p:sp>
      <p:sp>
        <p:nvSpPr>
          <p:cNvPr id="5" name="shotframe435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436" descr="shots/c1_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437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438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439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กล่องเตือน "เบอร์โทรซ้ำ"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เบอร์ 0812345678 เป็นของผู้ป่วย "สมหญิง ใจดี" อยู่แล้ว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C1-2 · ปฏิทินวันเกิด (tkcalendar)</a:t>
            </a:r>
            <a:endParaRPr lang="en-US" sz="2600" dirty="0"/>
          </a:p>
        </p:txBody>
      </p:sp>
      <p:sp>
        <p:nvSpPr>
          <p:cNvPr id="3" name="speakerPill440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441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600" dirty="0"/>
          </a:p>
        </p:txBody>
      </p:sp>
      <p:sp>
        <p:nvSpPr>
          <p:cNvPr id="5" name="shotframe442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443" descr="shots/c1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444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445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446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กดลูกศรของช่องวันเกิด ปฏิทินเปิด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ปฏิทินเปิดที่ สิงหาคม 1993 และเลือกวันที่ 15 ไว้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คลิกวันที่ หรือพิมพ์ YYYY-MM-DD เองก็ได้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C1-3 · ลงทะเบียนสำเร็จ</a:t>
            </a:r>
            <a:endParaRPr lang="en-US" sz="2600" dirty="0"/>
          </a:p>
        </p:txBody>
      </p:sp>
      <p:sp>
        <p:nvSpPr>
          <p:cNvPr id="3" name="speakerPill447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448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600" dirty="0"/>
          </a:p>
        </p:txBody>
      </p:sp>
      <p:sp>
        <p:nvSpPr>
          <p:cNvPr id="5" name="shotframe449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450" descr="shots/c1_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451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452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453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 "ลงทะเบียนสำเร็จ"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ลงทะเบียน "ชไมพร ใจกว้าง" เรียบร้อย รหัสผู้ป่วย: 16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เบอร์ถูกเก็บเป็น 0891234567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C1-4 · ประวัติการรักษา</a:t>
            </a:r>
            <a:endParaRPr lang="en-US" sz="2600" dirty="0"/>
          </a:p>
        </p:txBody>
      </p:sp>
      <p:sp>
        <p:nvSpPr>
          <p:cNvPr id="3" name="speakerPill454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455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600" dirty="0"/>
          </a:p>
        </p:txBody>
      </p:sp>
      <p:sp>
        <p:nvSpPr>
          <p:cNvPr id="5" name="shotframe456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457" descr="shots/c1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458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459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460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 อำนาจ จันทร์เพ็ญ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อำนาจ จันทร์เพ็ญ มีประวัติการรักษา 3 ครั้ง (เรียงจากล่าสุด)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แถวบนสุด: 2026-08-25 · นพ.ประวิทย์ ศรีสุข · อายุรกรรม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C1-5 · เลือกแผนก แพทย์ วันที่ และช่องเวลาว่าง</a:t>
            </a:r>
            <a:endParaRPr lang="en-US" sz="2600" dirty="0"/>
          </a:p>
        </p:txBody>
      </p:sp>
      <p:sp>
        <p:nvSpPr>
          <p:cNvPr id="3" name="speakerPill461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462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600" dirty="0"/>
          </a:p>
        </p:txBody>
      </p:sp>
      <p:sp>
        <p:nvSpPr>
          <p:cNvPr id="5" name="shotframe463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464" descr="shots/c1_s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465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466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467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ผู้ป่วย: ชไมพร ใจกว้าง (รหัส 16, เกิด 1993-08-15)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 2026-10-25 (วันอาทิตย์)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ช่องว่าง 09:30 - 10:00, 10:00 - 10:30, 10:30 - 11:00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09:30 ว่างเพราะคิวเดิมถูกยกเลิก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C1-6 · ยืนยันการจอง</a:t>
            </a:r>
            <a:endParaRPr lang="en-US" sz="2600" dirty="0"/>
          </a:p>
        </p:txBody>
      </p:sp>
      <p:sp>
        <p:nvSpPr>
          <p:cNvPr id="3" name="speakerPill468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469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600" dirty="0"/>
          </a:p>
        </p:txBody>
      </p:sp>
      <p:sp>
        <p:nvSpPr>
          <p:cNvPr id="5" name="shotframe470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471" descr="shots/c1_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472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473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474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 "ยืนยันการจอง"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สรุปผู้ป่วย แพทย์ วันที่ เวลา ก่อนบันทึก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C1-7 · จองคิวสำเร็จ</a:t>
            </a:r>
            <a:endParaRPr lang="en-US" sz="2600" dirty="0"/>
          </a:p>
        </p:txBody>
      </p:sp>
      <p:sp>
        <p:nvSpPr>
          <p:cNvPr id="3" name="speakerPill475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476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600" dirty="0"/>
          </a:p>
        </p:txBody>
      </p:sp>
      <p:sp>
        <p:nvSpPr>
          <p:cNvPr id="5" name="shotframe477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478" descr="shots/c1_boo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479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480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481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บันทึกการจองเรียบร้อย หมายเลขคิว: 31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แถบหัวยังเป็น 7/0/6/1 (จองของพรุ่งนี้)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C1-8 · ลองจองซ้อนเวลา</a:t>
            </a:r>
            <a:endParaRPr lang="en-US" sz="2600" dirty="0"/>
          </a:p>
        </p:txBody>
      </p:sp>
      <p:sp>
        <p:nvSpPr>
          <p:cNvPr id="3" name="speakerPill482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483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C1</a:t>
            </a:r>
            <a:endParaRPr lang="en-US" sz="1600" dirty="0"/>
          </a:p>
        </p:txBody>
      </p:sp>
      <p:sp>
        <p:nvSpPr>
          <p:cNvPr id="5" name="shotframe484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485" descr="shots/c1_c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486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487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488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 "คิวซ้อนกัน"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ผู้ป่วย "ชไมพร ใจกว้าง" มีคิวกับ พญ.กมลวรรณ ทองดี วันที่ 2026-10-25 เวลา 10:00 อยู่แล้ว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D1-1 · ค้นหาคิวด้วยชื่อ</a:t>
            </a:r>
            <a:endParaRPr lang="en-US" sz="2600" dirty="0"/>
          </a:p>
        </p:txBody>
      </p:sp>
      <p:sp>
        <p:nvSpPr>
          <p:cNvPr id="3" name="speakerPill489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490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600" dirty="0"/>
          </a:p>
        </p:txBody>
      </p:sp>
      <p:sp>
        <p:nvSpPr>
          <p:cNvPr id="5" name="shotframe491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492" descr="shots/d1_f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493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494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495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พบ 1 คิว: คิว 31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พรุ่งนี้ (2026-10-25) 10:00 · จองแล้ว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อาการแสดงเป็น 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D1-2 · ยืนยันการยกเลิกคิว</a:t>
            </a:r>
            <a:endParaRPr lang="en-US" sz="2600" dirty="0"/>
          </a:p>
        </p:txBody>
      </p:sp>
      <p:sp>
        <p:nvSpPr>
          <p:cNvPr id="3" name="speakerPill496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497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600" dirty="0"/>
          </a:p>
        </p:txBody>
      </p:sp>
      <p:sp>
        <p:nvSpPr>
          <p:cNvPr id="5" name="shotframe498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499" descr="shots/d1_cancel_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500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501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502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กล่องยืนยันแถบสีแดง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แสดงรายละเอียดคิวก่อนยกเลิก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D1-3 · หลังยกเลิกคิว</a:t>
            </a:r>
            <a:endParaRPr lang="en-US" sz="2600" dirty="0"/>
          </a:p>
        </p:txBody>
      </p:sp>
      <p:sp>
        <p:nvSpPr>
          <p:cNvPr id="3" name="speakerPill503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504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600" dirty="0"/>
          </a:p>
        </p:txBody>
      </p:sp>
      <p:sp>
        <p:nvSpPr>
          <p:cNvPr id="5" name="shotframe505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506" descr="shots/d1_cancel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507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508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509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ยกเลิกคิวที่ 31 เรียบร้อย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ตัวอักษรของแถวเป็นสีเทา สถานะ ยกเลิก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แถวยังอยู่ (ไม่ลบ)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D1-4 · ยกเลิกซ้ำไม่ได้</a:t>
            </a:r>
            <a:endParaRPr lang="en-US" sz="2600" dirty="0"/>
          </a:p>
        </p:txBody>
      </p:sp>
      <p:sp>
        <p:nvSpPr>
          <p:cNvPr id="3" name="speakerPill510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511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600" dirty="0"/>
          </a:p>
        </p:txBody>
      </p:sp>
      <p:sp>
        <p:nvSpPr>
          <p:cNvPr id="5" name="shotframe512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513" descr="shots/d1_cancel_ag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514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515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516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 "ยกเลิกไม่ได้"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คิวที่ 31 มีสถานะ "ยกเลิก" แล้ว ยกเลิกได้เฉพาะคิวที่สถานะ "จองแล้ว"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D1-5 · ช่องเวลากลับมาว่าง</a:t>
            </a:r>
            <a:endParaRPr lang="en-US" sz="2600" dirty="0"/>
          </a:p>
        </p:txBody>
      </p:sp>
      <p:sp>
        <p:nvSpPr>
          <p:cNvPr id="3" name="speakerPill517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518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600" dirty="0"/>
          </a:p>
        </p:txBody>
      </p:sp>
      <p:sp>
        <p:nvSpPr>
          <p:cNvPr id="5" name="shotframe519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520" descr="shots/d1_slots_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521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522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523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ช่องว่าง 09:30 - 10:00, 10:00 - 10:30, 10:30 - 11:00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10:00 - 10:30 กลับมาอยู่ในรายการ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D1-6 · ยืนยันการบันทึกว่าตรวจแล้ว</a:t>
            </a:r>
            <a:endParaRPr lang="en-US" sz="2600" dirty="0"/>
          </a:p>
        </p:txBody>
      </p:sp>
      <p:sp>
        <p:nvSpPr>
          <p:cNvPr id="3" name="speakerPill524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525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600" dirty="0"/>
          </a:p>
        </p:txBody>
      </p:sp>
      <p:sp>
        <p:nvSpPr>
          <p:cNvPr id="5" name="shotframe526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527" descr="shots/d1_done_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528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529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530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"วันนี้" (พบ 7 คิว) แล้วเลือกคิว 7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คิว 7 วิภาวรรณ ศรีทอง วันนี้ 09:00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 "ยืนยันการบันทึก"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D1-7 · ฟอร์มผลวินิจฉัย</a:t>
            </a:r>
            <a:endParaRPr lang="en-US" sz="2600" dirty="0"/>
          </a:p>
        </p:txBody>
      </p:sp>
      <p:sp>
        <p:nvSpPr>
          <p:cNvPr id="3" name="speakerPill531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532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600" dirty="0"/>
          </a:p>
        </p:txBody>
      </p:sp>
      <p:sp>
        <p:nvSpPr>
          <p:cNvPr id="5" name="shotframe533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534" descr="shots/d1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535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536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537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ฟอร์ม "บันทึกผลการรักษา"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ผลวินิจฉัย: คออักเสบจากไวรัส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การรักษา: ยาลดไข้ ยาอมแก้เจ็บคอ ดื่มน้ำอุ่นและพักผ่อน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D1-8 · บันทึกสำเร็จ</a:t>
            </a:r>
            <a:endParaRPr lang="en-US" sz="2600" dirty="0"/>
          </a:p>
        </p:txBody>
      </p:sp>
      <p:sp>
        <p:nvSpPr>
          <p:cNvPr id="3" name="speakerPill538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539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600" dirty="0"/>
          </a:p>
        </p:txBody>
      </p:sp>
      <p:sp>
        <p:nvSpPr>
          <p:cNvPr id="5" name="shotframe540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541" descr="shots/d1_done_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542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543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544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บันทึกว่าคิวที่ 7 ตรวจแล้ว เรียบร้อย ผลวินิจฉัย: คออักเสบจากไวรัส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 D1-9 · หลังบันทึก: แถวสีเขียว และแถบหัวเปลี่ยน</a:t>
            </a:r>
            <a:endParaRPr lang="en-US" sz="2600" dirty="0"/>
          </a:p>
        </p:txBody>
      </p:sp>
      <p:sp>
        <p:nvSpPr>
          <p:cNvPr id="3" name="speakerPill545"/>
          <p:cNvSpPr/>
          <p:nvPr/>
        </p:nvSpPr>
        <p:spPr>
          <a:xfrm>
            <a:off x="10454335" y="457200"/>
            <a:ext cx="1188720" cy="502920"/>
          </a:xfrm>
          <a:prstGeom prst="roundRect">
            <a:avLst>
              <a:gd name="adj" fmla="val 49091"/>
            </a:avLst>
          </a:prstGeom>
          <a:solidFill>
            <a:srgbClr val="FDEBF9"/>
          </a:solidFill>
          <a:ln w="9525">
            <a:solidFill>
              <a:srgbClr val="FD82C0"/>
            </a:solidFill>
            <a:prstDash val="solid"/>
          </a:ln>
        </p:spPr>
      </p:sp>
      <p:sp>
        <p:nvSpPr>
          <p:cNvPr id="4" name="text546"/>
          <p:cNvSpPr txBox="1"/>
          <p:nvPr/>
        </p:nvSpPr>
        <p:spPr>
          <a:xfrm>
            <a:off x="10454335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C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ผู้พูด </a:t>
            </a:r>
            <a:pPr algn="ctr" indent="0" marL="0">
              <a:buNone/>
            </a:pPr>
            <a:r>
              <a:rPr lang="en-US" sz="16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D1</a:t>
            </a:r>
            <a:endParaRPr lang="en-US" sz="1600" dirty="0"/>
          </a:p>
        </p:txBody>
      </p:sp>
      <p:sp>
        <p:nvSpPr>
          <p:cNvPr id="5" name="shotframe547"/>
          <p:cNvSpPr/>
          <p:nvPr/>
        </p:nvSpPr>
        <p:spPr>
          <a:xfrm>
            <a:off x="803249" y="1161288"/>
            <a:ext cx="7491781" cy="5129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82C0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pic>
        <p:nvPicPr>
          <p:cNvPr id="6" name="shot548" descr="shots/d1_don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1" y="1188720"/>
            <a:ext cx="7436917" cy="5074920"/>
          </a:xfrm>
          <a:prstGeom prst="rect">
            <a:avLst/>
          </a:prstGeom>
        </p:spPr>
      </p:pic>
      <p:sp>
        <p:nvSpPr>
          <p:cNvPr id="7" name="card549"/>
          <p:cNvSpPr/>
          <p:nvPr/>
        </p:nvSpPr>
        <p:spPr>
          <a:xfrm>
            <a:off x="8541919" y="1188720"/>
            <a:ext cx="3101137" cy="5074920"/>
          </a:xfrm>
          <a:prstGeom prst="roundRect">
            <a:avLst>
              <a:gd name="adj" fmla="val 3538"/>
            </a:avLst>
          </a:prstGeom>
          <a:solidFill>
            <a:srgbClr val="FFFFFF"/>
          </a:solidFill>
          <a:ln w="9525">
            <a:solidFill>
              <a:srgbClr val="F4CDE2"/>
            </a:solidFill>
            <a:prstDash val="solid"/>
          </a:ln>
          <a:effectLst>
            <a:outerShdw sx="100000" sy="100000" kx="0" ky="0" algn="bl" rotWithShape="0" blurRad="101600" dist="25400" dir="5400000">
              <a:srgbClr val="444044">
                <a:alpha val="12000"/>
              </a:srgbClr>
            </a:outerShdw>
          </a:effectLst>
        </p:spPr>
      </p:sp>
      <p:sp>
        <p:nvSpPr>
          <p:cNvPr id="8" name="text550"/>
          <p:cNvSpPr txBox="1"/>
          <p:nvPr/>
        </p:nvSpPr>
        <p:spPr>
          <a:xfrm>
            <a:off x="8770519" y="1389888"/>
            <a:ext cx="2643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</a:t>
            </a:r>
            <a:endParaRPr lang="en-US" sz="1700" dirty="0"/>
          </a:p>
        </p:txBody>
      </p:sp>
      <p:sp>
        <p:nvSpPr>
          <p:cNvPr id="9" name="text551"/>
          <p:cNvSpPr txBox="1"/>
          <p:nvPr/>
        </p:nvSpPr>
        <p:spPr>
          <a:xfrm>
            <a:off x="8770519" y="1874520"/>
            <a:ext cx="268965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ตัวอักษรของแถวคิว 7 เป็นสีเขียว สถานะ ตรวจแล้ว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แถบหัว: คิวทั้งหมด 7 ตรวจแล้ว 1 รอตรวจ 5 ยกเลิก 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91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440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ผังงานฉบับเต็ม (เหมือนในเอกสาร PDF หัวข้อ 2)</a:t>
            </a:r>
            <a:endParaRPr lang="en-US" sz="2600" dirty="0"/>
          </a:p>
        </p:txBody>
      </p:sp>
      <p:pic>
        <p:nvPicPr>
          <p:cNvPr id="3" name="flowchart" descr="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4606094" cy="5120640"/>
          </a:xfrm>
          <a:prstGeom prst="rect">
            <a:avLst/>
          </a:prstGeom>
        </p:spPr>
      </p:pic>
      <p:sp>
        <p:nvSpPr>
          <p:cNvPr id="4" name="text552"/>
          <p:cNvSpPr txBox="1"/>
          <p:nvPr/>
        </p:nvSpPr>
        <p:spPr>
          <a:xfrm>
            <a:off x="5611934" y="1325880"/>
            <a:ext cx="60311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48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อ่านอย่างไร</a:t>
            </a:r>
            <a:endParaRPr lang="en-US" sz="1800" dirty="0"/>
          </a:p>
        </p:txBody>
      </p:sp>
      <p:sp>
        <p:nvSpPr>
          <p:cNvPr id="5" name="text553"/>
          <p:cNvSpPr txBox="1"/>
          <p:nvPr/>
        </p:nvSpPr>
        <p:spPr>
          <a:xfrm>
            <a:off x="5611934" y="1828800"/>
            <a:ext cx="6031121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รูปเพชร = จุดตรวจก่อนทำต่อ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สีเขียว = คำสั่งที่เขียนลงฐานข้อมูล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สีชมพูเข้ม = แจ้งเตือนภาษาไทย แล้วกลับไปแก้ (เส้นประ)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3A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บันทึกผลตรวจ: ยืนยัน › ฟอร์มผลวินิจฉัย › transaction เดียว พลาดคำสั่งใด rollback ทั้งคู่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E5C69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ku Clinic">
  <a:themeElements>
    <a:clrScheme name="Pinku Clinic">
      <a:dk1>
        <a:srgbClr val="1E3A47"/>
      </a:dk1>
      <a:lt1>
        <a:srgbClr val="FFFFFF"/>
      </a:lt1>
      <a:dk2>
        <a:srgbClr val="444044"/>
      </a:dk2>
      <a:lt2>
        <a:srgbClr val="FDEBF9"/>
      </a:lt2>
      <a:accent1>
        <a:srgbClr val="FD82C0"/>
      </a:accent1>
      <a:accent2>
        <a:srgbClr val="F56477"/>
      </a:accent2>
      <a:accent3>
        <a:srgbClr val="D94860"/>
      </a:accent3>
      <a:accent4>
        <a:srgbClr val="3E5C69"/>
      </a:accent4>
      <a:accent5>
        <a:srgbClr val="1A7F37"/>
      </a:accent5>
      <a:accent6>
        <a:srgbClr val="918F8F"/>
      </a:accent6>
      <a:hlink>
        <a:srgbClr val="D94860"/>
      </a:hlink>
      <a:folHlink>
        <a:srgbClr val="444044"/>
      </a:folHlink>
    </a:clrScheme>
    <a:fontScheme name="Pinku Clinic">
      <a:majorFont>
        <a:latin typeface="Tahoma"/>
        <a:ea typeface=""/>
        <a:cs typeface="Tahoma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Tahoma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Pinku Clinic · ระบบจองคิวคลินิก - CPE361</dc:title>
  <dc:subject>PptxGenJS Presentation</dc:subject>
  <dc:creator>PptxGenJS</dc:creator>
  <cp:lastModifiedBy>PptxGenJS</cp:lastModifiedBy>
  <cp:revision>1</cp:revision>
  <dcterms:created xsi:type="dcterms:W3CDTF">2026-10-23T17:09:38Z</dcterms:created>
  <dcterms:modified xsi:type="dcterms:W3CDTF">2026-10-23T17:09:38Z</dcterms:modified>
</cp:coreProperties>
</file>